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91695" cy="36576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4183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500"/>
              </a:lnSpc>
              <a:spcAft>
                <a:spcPts val="200"/>
              </a:spcAft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Claude Code 安装教程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750"/>
              </a:lnSpc>
              <a:spcAft>
                <a:spcPts val="200"/>
              </a:spcAft>
              <a:defRPr sz="2200" b="0">
                <a:solidFill>
                  <a:srgbClr val="A0ACBA"/>
                </a:solidFill>
                <a:latin typeface="Microsoft YaHei"/>
              </a:defRPr>
            </a:pPr>
            <a:r>
              <a:t>从零开始 · 轻松上手 AI 编程助手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74920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50"/>
              </a:lnSpc>
              <a:spcAft>
                <a:spcPts val="200"/>
              </a:spcAft>
              <a:defRPr sz="1400" b="0">
                <a:solidFill>
                  <a:srgbClr val="6B788A"/>
                </a:solidFill>
                <a:latin typeface="Microsoft YaHei"/>
              </a:defRPr>
            </a:pPr>
            <a:r>
              <a:t>Node.js  |  Git  |  Claude Code CLI  |  CC-Switch  |  DeepSeek  |  VS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2ECC71"/>
                </a:solidFill>
                <a:latin typeface="Microsoft YaHei"/>
              </a:defRPr>
            </a:pPr>
            <a:r>
              <a:t>搭载 DeepSeek 国产大模型 · 无需科学上网 · 成本仅为 Claude 官方的 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安装步骤总览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6 步完成 Claude Code 安装与 DeepSeek 接入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675120" cy="60350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600200"/>
            <a:ext cx="402336" cy="402336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63624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37944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运行环境，Claude Code 的基石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67128"/>
            <a:ext cx="6675120" cy="60350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2258568"/>
            <a:ext cx="402336" cy="402336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2199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96312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版本控制工具，必须组件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25496"/>
            <a:ext cx="6675120" cy="60350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2916936"/>
            <a:ext cx="402336" cy="402336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8036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Claude Code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54680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npm 全局安装 + 配置文件修改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83864"/>
            <a:ext cx="6675120" cy="60350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" y="3575304"/>
            <a:ext cx="402336" cy="402336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38728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CC-Switch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13048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开源模型切换工具，告别登录限制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42232"/>
            <a:ext cx="6675120" cy="60350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4233672"/>
            <a:ext cx="402336" cy="402336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197096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DeepSeek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471416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国产大模型，成本仅为 Claude 的 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6675120" cy="60350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" y="4892040"/>
            <a:ext cx="402336" cy="402336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855464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VS Code 集成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29784"/>
            <a:ext cx="50292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可视化编辑器，效率翻倍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1508760"/>
            <a:ext cx="3779215" cy="389534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1691640"/>
            <a:ext cx="332201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75"/>
              </a:lnSpc>
              <a:spcAft>
                <a:spcPts val="200"/>
              </a:spcAft>
              <a:defRPr sz="1500" b="1">
                <a:solidFill>
                  <a:srgbClr val="F79E1B"/>
                </a:solidFill>
                <a:latin typeface="Microsoft YaHei"/>
              </a:defRPr>
            </a:pPr>
            <a:r>
              <a:t>📌 为什么用 CC-Switch？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167128"/>
            <a:ext cx="332201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400"/>
              </a:spcAft>
              <a:defRPr sz="1100">
                <a:solidFill>
                  <a:srgbClr val="A0ACBA"/>
                </a:solidFill>
                <a:latin typeface="Microsoft YaHei"/>
              </a:defRPr>
            </a:pPr>
            <a:r>
              <a:t>• Claude 是国外产品，需科学上网</a:t>
            </a:r>
          </a:p>
          <a:p>
            <a:pPr>
              <a:lnSpc>
                <a:spcPts val="1485"/>
              </a:lnSpc>
              <a:spcAft>
                <a:spcPts val="400"/>
              </a:spcAft>
              <a:defRPr sz="1100">
                <a:solidFill>
                  <a:srgbClr val="A0ACBA"/>
                </a:solidFill>
                <a:latin typeface="Microsoft YaHei"/>
              </a:defRPr>
            </a:pPr>
            <a:r>
              <a:t>• 账号经常被封禁，不稳定</a:t>
            </a:r>
          </a:p>
          <a:p>
            <a:pPr>
              <a:lnSpc>
                <a:spcPts val="1485"/>
              </a:lnSpc>
              <a:spcAft>
                <a:spcPts val="400"/>
              </a:spcAft>
              <a:defRPr sz="1100">
                <a:solidFill>
                  <a:srgbClr val="A0ACBA"/>
                </a:solidFill>
                <a:latin typeface="Microsoft YaHei"/>
              </a:defRPr>
            </a:pPr>
            <a:r>
              <a:t>• API 价格昂贵 ($3~15 / 百万 tokens)</a:t>
            </a:r>
          </a:p>
          <a:p>
            <a:pPr>
              <a:lnSpc>
                <a:spcPts val="1485"/>
              </a:lnSpc>
              <a:spcAft>
                <a:spcPts val="400"/>
              </a:spcAft>
              <a:defRPr sz="1100">
                <a:solidFill>
                  <a:srgbClr val="A0ACBA"/>
                </a:solidFill>
                <a:latin typeface="Microsoft YaHei"/>
              </a:defRPr>
            </a:pPr>
            <a:r>
              <a:t>• </a:t>
            </a:r>
          </a:p>
          <a:p>
            <a:pPr>
              <a:lnSpc>
                <a:spcPts val="1485"/>
              </a:lnSpc>
              <a:spcAft>
                <a:spcPts val="400"/>
              </a:spcAft>
              <a:defRPr sz="1100">
                <a:solidFill>
                  <a:srgbClr val="A0ACBA"/>
                </a:solidFill>
                <a:latin typeface="Microsoft YaHei"/>
              </a:defRPr>
            </a:pPr>
            <a:r>
              <a:t>• ✅ CC-Switch 一键切换模型</a:t>
            </a:r>
          </a:p>
          <a:p>
            <a:pPr>
              <a:lnSpc>
                <a:spcPts val="1485"/>
              </a:lnSpc>
              <a:spcAft>
                <a:spcPts val="400"/>
              </a:spcAft>
              <a:defRPr sz="1100">
                <a:solidFill>
                  <a:srgbClr val="A0ACBA"/>
                </a:solidFill>
                <a:latin typeface="Microsoft YaHei"/>
              </a:defRPr>
            </a:pPr>
            <a:r>
              <a:t>• ✅ 接入国产 DeepSeek</a:t>
            </a:r>
          </a:p>
          <a:p>
            <a:pPr>
              <a:lnSpc>
                <a:spcPts val="1485"/>
              </a:lnSpc>
              <a:spcAft>
                <a:spcPts val="400"/>
              </a:spcAft>
              <a:defRPr sz="1100">
                <a:solidFill>
                  <a:srgbClr val="A0ACBA"/>
                </a:solidFill>
                <a:latin typeface="Microsoft YaHei"/>
              </a:defRPr>
            </a:pPr>
            <a:r>
              <a:t>• ✅ 无需翻墙，成本降低 98%</a:t>
            </a:r>
          </a:p>
          <a:p>
            <a:pPr>
              <a:lnSpc>
                <a:spcPts val="1485"/>
              </a:lnSpc>
              <a:spcAft>
                <a:spcPts val="400"/>
              </a:spcAft>
              <a:defRPr sz="1100">
                <a:solidFill>
                  <a:srgbClr val="A0ACBA"/>
                </a:solidFill>
                <a:latin typeface="Microsoft YaHei"/>
              </a:defRPr>
            </a:pPr>
            <a:r>
              <a:t>• ✅ 中文理解能力更出色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74320"/>
            <a:ext cx="384048" cy="384048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 Node.js —— 运行环境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Claude Code 依赖 Node.js 18+，推荐安装 LTS 版本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5023" y="1252728"/>
            <a:ext cx="4718304" cy="453542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2417636"/>
            <a:ext cx="4572000" cy="2205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371600"/>
            <a:ext cx="57908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F79E1B"/>
                </a:solidFill>
                <a:latin typeface="Microsoft YaHei"/>
              </a:defRPr>
            </a:pPr>
            <a:r>
              <a:t>📥 下载安装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790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官网：https://nodejs.org/zh-cn/download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推荐选择 LTS（长期支持）版本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790895" cy="365760"/>
          </a:xfrm>
          <a:prstGeom prst="rect">
            <a:avLst/>
          </a:prstGeom>
          <a:solidFill>
            <a:srgbClr val="20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54251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defRPr sz="1200">
                <a:solidFill>
                  <a:srgbClr val="2ECC71"/>
                </a:solidFill>
                <a:latin typeface="Cascadia Code"/>
              </a:defRPr>
            </a:pPr>
            <a:r>
              <a:t>https://nodejs.org/zh-cn/download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57908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2ECC71"/>
                </a:solidFill>
                <a:latin typeface="Microsoft YaHei"/>
              </a:defRPr>
            </a:pPr>
            <a:r>
              <a:t>✅ 验证安装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5790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Win + R → 输入 cmd → 回车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2743200" cy="365760"/>
          </a:xfrm>
          <a:prstGeom prst="rect">
            <a:avLst/>
          </a:prstGeom>
          <a:solidFill>
            <a:srgbClr val="20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defRPr sz="1300">
                <a:solidFill>
                  <a:srgbClr val="2ECC71"/>
                </a:solidFill>
                <a:latin typeface="Cascadia Code"/>
              </a:defRPr>
            </a:pPr>
            <a:r>
              <a:t>node -v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5790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2ECC71"/>
                </a:solidFill>
                <a:latin typeface="Microsoft YaHei"/>
              </a:defRPr>
            </a:pPr>
            <a:r>
              <a:t>出现版本号（如 v20.x.x）表示安装成功 ✓</a:t>
            </a: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2ECC71"/>
                </a:solidFill>
                <a:latin typeface="Microsoft YaHei"/>
              </a:defRPr>
            </a:pPr>
            <a:r>
              <a:t>如果未出现，请重新安装或检查环境变量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74320"/>
            <a:ext cx="384048" cy="384048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 Git —— 版本控制工具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Claude Code 的必要组件，不安装会直接报错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5023" y="1252728"/>
            <a:ext cx="4718304" cy="453542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2116599"/>
            <a:ext cx="4572000" cy="28076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371600"/>
            <a:ext cx="57908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F79E1B"/>
                </a:solidFill>
                <a:latin typeface="Microsoft YaHei"/>
              </a:defRPr>
            </a:pPr>
            <a:r>
              <a:t>📥 下载与安装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790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官网：https://git-scm.com/downloads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下载 Windows 版本安装包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双击运行，保持默认选项一路 Next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安装后 cmd 中输入 git --version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57908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F25C3B"/>
                </a:solidFill>
                <a:latin typeface="Microsoft YaHei"/>
              </a:defRPr>
            </a:pPr>
            <a:r>
              <a:t>⚠️ 重要提醒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5790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不装 Git，Claude Code 直接报错退出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Git 是免费开源软件，安全可靠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如已安装仍报错，检查 PATH 环境变量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5790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✅ Git 安装成功后，Claude Code 已经可以运行！</a:t>
            </a:r>
          </a:p>
          <a:p>
            <a:pPr algn="l">
              <a:lnSpc>
                <a:spcPts val="1625"/>
              </a:lnSpc>
              <a:spcAft>
                <a:spcPts val="200"/>
              </a:spcAft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   但还需要修改配置文件跳过登录验证……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74320"/>
            <a:ext cx="384048" cy="384048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 Claude Code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npm 全局安装 + 配置文件修改，两步完成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5023" y="1252728"/>
            <a:ext cx="4718304" cy="453542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2244295"/>
            <a:ext cx="4572000" cy="25522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371600"/>
            <a:ext cx="5790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F79E1B"/>
                </a:solidFill>
                <a:latin typeface="Microsoft YaHei"/>
              </a:defRPr>
            </a:pPr>
            <a:r>
              <a:t>📦 安装命令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使用 PowerShell（管理员身份）或 cmd 执行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6156655" cy="365760"/>
          </a:xfrm>
          <a:prstGeom prst="rect">
            <a:avLst/>
          </a:prstGeom>
          <a:solidFill>
            <a:srgbClr val="20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57908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defRPr sz="1300">
                <a:solidFill>
                  <a:srgbClr val="2ECC71"/>
                </a:solidFill>
                <a:latin typeface="Cascadia Code"/>
              </a:defRPr>
            </a:pPr>
            <a:r>
              <a:t>npm install -g @anthropic-ai/claude-code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5790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549EFF"/>
                </a:solidFill>
                <a:latin typeface="Microsoft YaHei"/>
              </a:defRPr>
            </a:pPr>
            <a:r>
              <a:t>💡 加速技巧（安装太慢时使用）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6156655" cy="320040"/>
          </a:xfrm>
          <a:prstGeom prst="rect">
            <a:avLst/>
          </a:prstGeom>
          <a:solidFill>
            <a:srgbClr val="20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5790895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defRPr sz="1200">
                <a:solidFill>
                  <a:srgbClr val="2ECC71"/>
                </a:solidFill>
                <a:latin typeface="Cascadia Code"/>
              </a:defRPr>
            </a:pPr>
            <a:r>
              <a:t>npm config set registry https://registry.npmmirror.com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5790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F25C3B"/>
                </a:solidFill>
                <a:latin typeface="Microsoft YaHei"/>
              </a:defRPr>
            </a:pPr>
            <a:r>
              <a:t>🔧 修改配置文件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5790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找到 C:\Users\用户名\.claude\claude.json</a:t>
            </a:r>
          </a:p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添加 "hasCompletedOnboarding": true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09160"/>
            <a:ext cx="2926080" cy="548640"/>
          </a:xfrm>
          <a:prstGeom prst="rect">
            <a:avLst/>
          </a:prstGeom>
          <a:solidFill>
            <a:srgbClr val="20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defRPr sz="1300">
                <a:solidFill>
                  <a:srgbClr val="2ECC71"/>
                </a:solidFill>
                <a:latin typeface="Cascadia Code"/>
              </a:defRPr>
            </a:pPr>
            <a:r>
              <a:t>{</a:t>
            </a:r>
          </a:p>
          <a:p>
            <a:pPr>
              <a:lnSpc>
                <a:spcPts val="1690"/>
              </a:lnSpc>
              <a:defRPr sz="1300">
                <a:solidFill>
                  <a:srgbClr val="2ECC71"/>
                </a:solidFill>
                <a:latin typeface="Cascadia Code"/>
              </a:defRPr>
            </a:pPr>
            <a:r>
              <a:t>  "hasCompletedOnboarding": true</a:t>
            </a:r>
          </a:p>
          <a:p>
            <a:pPr>
              <a:lnSpc>
                <a:spcPts val="1690"/>
              </a:lnSpc>
              <a:defRPr sz="1300">
                <a:solidFill>
                  <a:srgbClr val="2ECC71"/>
                </a:solidFill>
                <a:latin typeface="Cascadia Code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74320"/>
            <a:ext cx="384048" cy="384048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首次运行 —— 登录提示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当前 Claude Code 能运行，但提示登录 Claude 账号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966063" y="1271016"/>
            <a:ext cx="5047488" cy="3218688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8143" y="1271016"/>
            <a:ext cx="5047488" cy="3218688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" y="1473412"/>
            <a:ext cx="4937760" cy="2813895"/>
          </a:xfrm>
          <a:prstGeom prst="rect">
            <a:avLst/>
          </a:prstGeom>
        </p:spPr>
      </p:pic>
      <p:pic>
        <p:nvPicPr>
          <p:cNvPr id="9" name="Picture 8" descr="imag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502069"/>
            <a:ext cx="4937759" cy="27565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75488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F25C3B"/>
                </a:solidFill>
                <a:latin typeface="Microsoft YaHei"/>
              </a:defRPr>
            </a:pPr>
            <a:r>
              <a:t>⚠️ 当前状态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A0ACBA"/>
                </a:solidFill>
                <a:latin typeface="Microsoft YaHei"/>
              </a:defRPr>
            </a:pPr>
            <a:r>
              <a:t>已完成 claude.json 配置，可以运行</a:t>
            </a: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A0ACBA"/>
                </a:solidFill>
                <a:latin typeface="Microsoft YaHei"/>
              </a:defRPr>
            </a:pPr>
            <a:r>
              <a:t>但会提示需要登录 Claude 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120640"/>
            <a:ext cx="50292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💡 问题分析：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   Claude 是国外大模型，需要：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   · 科学上网才能访问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   · 付费购买 token（价格昂贵）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   · 账号经常被封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   👉 解决方案：接入国产 DeepSeek！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74320"/>
            <a:ext cx="384048" cy="384048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CC-Switch —— 一键切换大模型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开源工具，图形界面操作，支持 DeepSeek 等多款国产模型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6063" y="1271016"/>
            <a:ext cx="5047488" cy="3218688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8143" y="1271016"/>
            <a:ext cx="5047488" cy="3218688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" y="1546076"/>
            <a:ext cx="4937760" cy="2668568"/>
          </a:xfrm>
          <a:prstGeom prst="rect">
            <a:avLst/>
          </a:prstGeom>
        </p:spPr>
      </p:pic>
      <p:pic>
        <p:nvPicPr>
          <p:cNvPr id="9" name="Picture 8" descr="imag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553256"/>
            <a:ext cx="4937760" cy="2654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754880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F79E1B"/>
                </a:solidFill>
                <a:latin typeface="Microsoft YaHei"/>
              </a:defRPr>
            </a:pPr>
            <a:r>
              <a:t>🔑 CC-Switch 核心优势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开源免费，GitHub 托管：https://github.com/farion1231/cc-switch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一键切换 Claude Code 底层大模型 API，无需修改任何代码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支持 DeepSeek、通义千问等多个国产模型，图形界面填写 API Key 即可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下载 Releases 中的 .exe 安装包，双击运行安装，无需额外配置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74320"/>
            <a:ext cx="384048" cy="384048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获取 DeepSeek API 密钥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在 DeepSeek 开放平台注册账号，创建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966063" y="1271016"/>
            <a:ext cx="5047488" cy="2670048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8143" y="1271016"/>
            <a:ext cx="5047488" cy="2670048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" y="1472675"/>
            <a:ext cx="4937760" cy="2266730"/>
          </a:xfrm>
          <a:prstGeom prst="rect">
            <a:avLst/>
          </a:prstGeom>
        </p:spPr>
      </p:pic>
      <p:pic>
        <p:nvPicPr>
          <p:cNvPr id="9" name="Picture 8" descr="imag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53113"/>
            <a:ext cx="4937760" cy="23058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206240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F79E1B"/>
                </a:solidFill>
                <a:latin typeface="Microsoft YaHei"/>
              </a:defRPr>
            </a:pPr>
            <a:r>
              <a:t>📋 操作步骤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① 打开 platform.deepseek.com → 手机号注册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② 登录后进入「API Keys」管理页面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③ 点击「创建 API Key」→ 起个名字（如 claude-code）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④ ⚠️ 立即复制密钥（sk-xxxx），仅显示一次！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4572000"/>
            <a:ext cx="4846320" cy="146304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4709160"/>
            <a:ext cx="44805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🔐 安全提醒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· API Key 关闭页面后无法再次查看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· 请复制后保存到安全的地方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· 不要将 Key 分享给他人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· 泄露后可在平台重新生成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配置 CC-Switch 接入 DeepSeek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添加模型 → 选择 DeepSeek → 粘贴 API Key，完成！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966063" y="1271016"/>
            <a:ext cx="5047488" cy="2852928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8143" y="1271016"/>
            <a:ext cx="5047488" cy="2852928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94" y="1325880"/>
            <a:ext cx="3961426" cy="2743199"/>
          </a:xfrm>
          <a:prstGeom prst="rect">
            <a:avLst/>
          </a:prstGeom>
        </p:spPr>
      </p:pic>
      <p:pic>
        <p:nvPicPr>
          <p:cNvPr id="8" name="Picture 7" descr="imag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59" y="1325880"/>
            <a:ext cx="4808256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389120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🎉 配置完成！重新打开 cmd，输入 claude 不再提示登录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① 打开 CC-Switch → 进入主界面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② 点击「添加模型」→ 在模型列表中选择「DeepSeek」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③ 在 API Key 输入框中粘贴刚才复制的密钥 → 保存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④ 重新打开 cmd → 输入 claude → 直接进入对话界面！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74320"/>
            <a:ext cx="384048" cy="384048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DeepSeek 定价与充值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实名认证 + 充值 10 元即可，成本仅为 Claude 官方的 2%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91840" cy="164592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918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🟢 DeepSeek-V3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743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输入：¥1.0  / 百万 tokens</a:t>
            </a: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输出：¥2.0  / 百万 tokens</a:t>
            </a: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≈ 充值 1 元 = 50 万字对话</a:t>
            </a: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≈ 充值 10 元 = 500 万字对话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291840" cy="164592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2918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🔴 Claude Sonnet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2743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输入：$3 ≈ ¥21  / 百万 tokens</a:t>
            </a: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输出：$15 ≈ ¥105 / 百万 tokens</a:t>
            </a: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≈ 价格是 DeepSeek 的 50 倍+</a:t>
            </a:r>
          </a:p>
          <a:p>
            <a:pPr algn="l">
              <a:lnSpc>
                <a:spcPts val="1625"/>
              </a:lnSpc>
              <a:spcAft>
                <a:spcPts val="200"/>
              </a:spcAft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≈ 还需科学上网 + 国外信用卡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50"/>
              </a:lnSpc>
              <a:spcAft>
                <a:spcPts val="200"/>
              </a:spcAft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👉 结论：DeepSeek 成本仅为 Claude 的 2%，且中文理解能力更强！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37160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6B788A"/>
                </a:solidFill>
                <a:latin typeface="Microsoft YaHei"/>
              </a:defRPr>
            </a:pPr>
            <a:r>
              <a:t>充值流程截图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35824" y="1655064"/>
            <a:ext cx="1399032" cy="1901952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32274"/>
            <a:ext cx="1325880" cy="7475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171432" y="1655064"/>
            <a:ext cx="1399032" cy="1901952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2238992"/>
            <a:ext cx="1325880" cy="73409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607040" y="1655064"/>
            <a:ext cx="1399032" cy="1901952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3616" y="2233884"/>
            <a:ext cx="1325880" cy="74431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" y="370332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549EFF"/>
                </a:solidFill>
                <a:latin typeface="Microsoft YaHei"/>
              </a:defRPr>
            </a:pPr>
            <a:r>
              <a:t>📝 充值步骤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50792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① 在 DeepSeek 平台完成实名认证（按平台指引操作）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② 进入充值页面，首次建议充值 10~20 元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③ 支持微信 / 支付宝扫码支付，即时到账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④ 充值后即可无限制调用 API，按量计费，用多少扣多少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74320"/>
            <a:ext cx="384048" cy="384048"/>
          </a:xfrm>
          <a:prstGeom prst="ellipse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VS Code 集成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在可视化编辑器中运行，告别纯命令行，效率翻倍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5023" y="1252728"/>
            <a:ext cx="4718304" cy="435254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2249052"/>
            <a:ext cx="4572000" cy="2359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325880"/>
            <a:ext cx="58366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F79E1B"/>
                </a:solidFill>
                <a:latin typeface="Microsoft YaHei"/>
              </a:defRPr>
            </a:pPr>
            <a:r>
              <a:t>🌟 为什么选择 VS Code？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836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微软出品的免费编辑器，轻量且功能强大</a:t>
            </a:r>
          </a:p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可视化操作界面，告别纯命令行</a:t>
            </a:r>
          </a:p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可直观查看代码变更、对比差异</a:t>
            </a:r>
          </a:p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丰富插件生态，无限扩展可能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58366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spcAft>
                <a:spcPts val="200"/>
              </a:spcAft>
              <a:defRPr sz="1800" b="1">
                <a:solidFill>
                  <a:srgbClr val="549EFF"/>
                </a:solidFill>
                <a:latin typeface="Microsoft YaHei"/>
              </a:defRPr>
            </a:pPr>
            <a:r>
              <a:t>🔌 安装 Claude Code 插件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58366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Ctrl+Shift+X → 搜索 "Claude Code"</a:t>
            </a:r>
          </a:p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找到 Anthropic 官方插件 → Install</a:t>
            </a:r>
          </a:p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Ctrl+` 打开终端 → 输入 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58366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25C3B"/>
                </a:solidFill>
                <a:latin typeface="Microsoft YaHei"/>
              </a:defRPr>
            </a:pPr>
            <a:r>
              <a:t>⚠️ PowerShell 执行策略报错？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92040"/>
            <a:ext cx="6202375" cy="411480"/>
          </a:xfrm>
          <a:prstGeom prst="rect">
            <a:avLst/>
          </a:prstGeom>
          <a:solidFill>
            <a:srgbClr val="20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58366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defRPr sz="1100">
                <a:solidFill>
                  <a:srgbClr val="2ECC71"/>
                </a:solidFill>
                <a:latin typeface="Cascadia Code"/>
              </a:defRPr>
            </a:pPr>
            <a:r>
              <a:t>Set-ExecutionPolicy -ExecutionPolicy RemoteSigned -Scope CurrentUser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58366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在 PowerShell 中执行上述命令，输入 Y 确认即可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RemoteSigned：允许本地脚本运行，保留安全防护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解决 PowerShell 执行策略报错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claude.ps1 无法运行？这是 Windows 安全机制，一行命令解决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217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F79E1B"/>
                </a:solidFill>
                <a:latin typeface="Microsoft YaHei"/>
              </a:defRPr>
            </a:pPr>
            <a:r>
              <a:t>🔍 问题分析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Windows PowerShell 默认执行策略为 Restricted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该策略禁止所有脚本运行，包括 claude.ps1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这是 Windows 安全功能，防止恶意脚本执行</a:t>
            </a:r>
          </a:p>
          <a:p>
            <a:pPr>
              <a:lnSpc>
                <a:spcPts val="1755"/>
              </a:lnSpc>
              <a:spcAft>
                <a:spcPts val="400"/>
              </a:spcAft>
              <a:defRPr sz="1300">
                <a:solidFill>
                  <a:srgbClr val="E8ECF0"/>
                </a:solidFill>
                <a:latin typeface="Microsoft YaHei"/>
              </a:defRPr>
            </a:pPr>
            <a:r>
              <a:t>▸ 修改仅影响当前用户，不影响系统安全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6217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00"/>
              </a:lnSpc>
              <a:spcAft>
                <a:spcPts val="200"/>
              </a:spcAft>
              <a:defRPr sz="2000" b="1">
                <a:solidFill>
                  <a:srgbClr val="2ECC71"/>
                </a:solidFill>
                <a:latin typeface="Microsoft YaHei"/>
              </a:defRPr>
            </a:pPr>
            <a:r>
              <a:t>✅ 解决方案（推荐）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4728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以普通身份打开 PowerShell（无需管理员权限）</a:t>
            </a:r>
          </a:p>
          <a:p>
            <a:pPr>
              <a:lnSpc>
                <a:spcPts val="1620"/>
              </a:lnSpc>
              <a:spcAft>
                <a:spcPts val="400"/>
              </a:spcAft>
              <a:defRPr sz="1200">
                <a:solidFill>
                  <a:srgbClr val="E8ECF0"/>
                </a:solidFill>
                <a:latin typeface="Microsoft YaHei"/>
              </a:defRPr>
            </a:pPr>
            <a:r>
              <a:t>▸ 执行以下命令（仅修改当前用户策略）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69080"/>
            <a:ext cx="6217920" cy="457200"/>
          </a:xfrm>
          <a:prstGeom prst="rect">
            <a:avLst/>
          </a:prstGeom>
          <a:solidFill>
            <a:srgbClr val="20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defRPr sz="1300">
                <a:solidFill>
                  <a:srgbClr val="2ECC71"/>
                </a:solidFill>
                <a:latin typeface="Cascadia Code"/>
              </a:defRPr>
            </a:pPr>
            <a:r>
              <a:t>Set-ExecutionPolicy -ExecutionPolicy RemoteSigned -Scope CurrentUser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6217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RemoteSigned 策略说明：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   ✅ 允许运行本地创建的脚本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   ⚠️ 从网络下载的脚本仍需有效签名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   🔒 既解决问题，又保留基本安全防护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系统询问 "是否要更改执行策略?" → 输入 Y 回车确认</a:t>
            </a:r>
          </a:p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关闭当前终端 → 重新打开 → 再次运行 claude 即可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50608" y="1252728"/>
            <a:ext cx="4718304" cy="4718304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040380"/>
            <a:ext cx="4572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4864" cy="365760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500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常见问题排查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4980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Aft>
                <a:spcPts val="200"/>
              </a:spcAft>
              <a:defRPr sz="1200" b="0">
                <a:solidFill>
                  <a:srgbClr val="A0ACBA"/>
                </a:solidFill>
                <a:latin typeface="Microsoft YaHei"/>
              </a:defRPr>
            </a:pPr>
            <a:r>
              <a:t>安装过程中遇到的典型问题及解决方案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9467" y="1417320"/>
            <a:ext cx="3429000" cy="155448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9467" y="1417320"/>
            <a:ext cx="3429000" cy="36576"/>
          </a:xfrm>
          <a:prstGeom prst="rect">
            <a:avLst/>
          </a:prstGeom>
          <a:solidFill>
            <a:srgbClr val="54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6627" y="152704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75"/>
              </a:lnSpc>
              <a:spcAft>
                <a:spcPts val="200"/>
              </a:spcAft>
              <a:defRPr sz="1500" b="1">
                <a:solidFill>
                  <a:srgbClr val="F79E1B"/>
                </a:solidFill>
                <a:latin typeface="Microsoft YaHei"/>
              </a:defRPr>
            </a:pPr>
            <a:r>
              <a:t>Q1: npm install 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627" y="1856232"/>
            <a:ext cx="31089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切换国内镜像：npm config set registry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  https://registry.npmmirror.com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或用管理员身份运行 PowerShell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55448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1347" y="1417320"/>
            <a:ext cx="3429000" cy="36576"/>
          </a:xfrm>
          <a:prstGeom prst="rect">
            <a:avLst/>
          </a:prstGeom>
          <a:solidFill>
            <a:srgbClr val="54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8507" y="152704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75"/>
              </a:lnSpc>
              <a:spcAft>
                <a:spcPts val="200"/>
              </a:spcAft>
              <a:defRPr sz="1500" b="1">
                <a:solidFill>
                  <a:srgbClr val="F79E1B"/>
                </a:solidFill>
                <a:latin typeface="Microsoft YaHei"/>
              </a:defRPr>
            </a:pPr>
            <a:r>
              <a:t>Q2: 提示找不到 claude 命令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507" y="1856232"/>
            <a:ext cx="31089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关闭并重新打开 cmd 窗口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确认 npm 全局安装成功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检查 npm 全局路径是否在 PATH 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3227" y="1417320"/>
            <a:ext cx="3429000" cy="155448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3227" y="1417320"/>
            <a:ext cx="3429000" cy="36576"/>
          </a:xfrm>
          <a:prstGeom prst="rect">
            <a:avLst/>
          </a:prstGeom>
          <a:solidFill>
            <a:srgbClr val="54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0387" y="152704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75"/>
              </a:lnSpc>
              <a:spcAft>
                <a:spcPts val="200"/>
              </a:spcAft>
              <a:defRPr sz="1500" b="1">
                <a:solidFill>
                  <a:srgbClr val="F79E1B"/>
                </a:solidFill>
                <a:latin typeface="Microsoft YaHei"/>
              </a:defRPr>
            </a:pPr>
            <a:r>
              <a:t>Q3: 提示找不到 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0387" y="1856232"/>
            <a:ext cx="31089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确认已安装：git --version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重装 Git 时勾选「Add Git to PATH」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或手动添加 Git 到系统环境变量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467" y="3108960"/>
            <a:ext cx="3429000" cy="155448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467" y="3108960"/>
            <a:ext cx="3429000" cy="36576"/>
          </a:xfrm>
          <a:prstGeom prst="rect">
            <a:avLst/>
          </a:prstGeom>
          <a:solidFill>
            <a:srgbClr val="54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627" y="321868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75"/>
              </a:lnSpc>
              <a:spcAft>
                <a:spcPts val="200"/>
              </a:spcAft>
              <a:defRPr sz="1500" b="1">
                <a:solidFill>
                  <a:srgbClr val="F79E1B"/>
                </a:solidFill>
                <a:latin typeface="Microsoft YaHei"/>
              </a:defRPr>
            </a:pPr>
            <a:r>
              <a:t>Q4: CC-Switch 配置后仍提示登录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627" y="3547872"/>
            <a:ext cx="31089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检查 API Key 是否有多余空格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确认 DeepSeek 已实名认证并充值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重启 CC-Switch 和 cmd 再试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1347" y="3108960"/>
            <a:ext cx="3429000" cy="155448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1347" y="3108960"/>
            <a:ext cx="3429000" cy="36576"/>
          </a:xfrm>
          <a:prstGeom prst="rect">
            <a:avLst/>
          </a:prstGeom>
          <a:solidFill>
            <a:srgbClr val="54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8507" y="321868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75"/>
              </a:lnSpc>
              <a:spcAft>
                <a:spcPts val="200"/>
              </a:spcAft>
              <a:defRPr sz="1500" b="1">
                <a:solidFill>
                  <a:srgbClr val="F79E1B"/>
                </a:solidFill>
                <a:latin typeface="Microsoft YaHei"/>
              </a:defRPr>
            </a:pPr>
            <a:r>
              <a:t>Q5: DeepSeek API 返回错误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8507" y="3547872"/>
            <a:ext cx="31089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检查账户余额是否充足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确认 API Key 未被删除/过期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实名认证是否已审核通过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3227" y="3108960"/>
            <a:ext cx="3429000" cy="155448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3227" y="3108960"/>
            <a:ext cx="3429000" cy="36576"/>
          </a:xfrm>
          <a:prstGeom prst="rect">
            <a:avLst/>
          </a:prstGeom>
          <a:solidFill>
            <a:srgbClr val="54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0387" y="3218688"/>
            <a:ext cx="3108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75"/>
              </a:lnSpc>
              <a:spcAft>
                <a:spcPts val="200"/>
              </a:spcAft>
              <a:defRPr sz="1500" b="1">
                <a:solidFill>
                  <a:srgbClr val="F79E1B"/>
                </a:solidFill>
                <a:latin typeface="Microsoft YaHei"/>
              </a:defRPr>
            </a:pPr>
            <a:r>
              <a:t>Q6: VS Code 终端无法运行 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0387" y="3547872"/>
            <a:ext cx="31089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按前一页修改 PowerShell 执行策略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关闭 VS Code 重新打开</a:t>
            </a:r>
          </a:p>
          <a:p>
            <a:pPr algn="l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→ 确认外部 cmd 中可正常运行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06440"/>
            <a:ext cx="107286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6B788A"/>
                </a:solidFill>
                <a:latin typeface="Microsoft YaHei"/>
              </a:defRPr>
            </a:pPr>
            <a:r>
              <a:t>💡 更多帮助请查看完整教程：Claude_Code_安装教程.md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36576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02920"/>
            <a:ext cx="9418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250"/>
              </a:lnSpc>
              <a:spcAft>
                <a:spcPts val="200"/>
              </a:spcAft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🎯 安装完成！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4300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75"/>
              </a:lnSpc>
              <a:spcAft>
                <a:spcPts val="200"/>
              </a:spcAft>
              <a:defRPr sz="1500" b="0">
                <a:solidFill>
                  <a:srgbClr val="A0ACBA"/>
                </a:solidFill>
                <a:latin typeface="Microsoft YaHei"/>
              </a:defRPr>
            </a:pPr>
            <a:r>
              <a:t>在终端输入 claude 即可开启 AI 编程之旅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2194560"/>
            <a:ext cx="1691640" cy="274320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447" y="2194560"/>
            <a:ext cx="1691640" cy="36576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887" y="24231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25C3B"/>
                </a:solidFill>
                <a:latin typeface="Microsoft YaHei"/>
              </a:defRPr>
            </a:pPr>
            <a:r>
              <a:t>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31089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运行环境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37947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6B788A"/>
                </a:solidFill>
                <a:latin typeface="Microsoft YaHei"/>
              </a:defRPr>
            </a:pPr>
            <a:r>
              <a:t>nodejs.org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5679" y="2194560"/>
            <a:ext cx="1691640" cy="274320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5679" y="2194560"/>
            <a:ext cx="1691640" cy="36576"/>
          </a:xfrm>
          <a:prstGeom prst="rect">
            <a:avLst/>
          </a:prstGeom>
          <a:solidFill>
            <a:srgbClr val="F79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7119" y="24231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79E1B"/>
                </a:solidFill>
                <a:latin typeface="Microsoft YaHei"/>
              </a:defRPr>
            </a:pPr>
            <a:r>
              <a:t>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7119" y="31089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版本控制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7119" y="37947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6B788A"/>
                </a:solidFill>
                <a:latin typeface="Microsoft YaHei"/>
              </a:defRPr>
            </a:pPr>
            <a:r>
              <a:t>git-scm.com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1911" y="2194560"/>
            <a:ext cx="1691640" cy="274320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1911" y="2194560"/>
            <a:ext cx="1691640" cy="36576"/>
          </a:xfrm>
          <a:prstGeom prst="rect">
            <a:avLst/>
          </a:prstGeom>
          <a:solidFill>
            <a:srgbClr val="54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3351" y="24231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549EFF"/>
                </a:solidFill>
                <a:latin typeface="Microsoft YaHei"/>
              </a:defRPr>
            </a:pPr>
            <a:r>
              <a:t>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3351" y="31089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AI 编程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3351" y="37947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6B788A"/>
                </a:solidFill>
                <a:latin typeface="Microsoft YaHei"/>
              </a:defRPr>
            </a:pPr>
            <a:r>
              <a:t>npm install -g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8143" y="2194560"/>
            <a:ext cx="1691640" cy="274320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8143" y="2194560"/>
            <a:ext cx="16916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9583" y="24231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CC-Switch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9583" y="31089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模型切换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9583" y="37947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6B788A"/>
                </a:solidFill>
                <a:latin typeface="Microsoft YaHei"/>
              </a:defRPr>
            </a:pPr>
            <a:r>
              <a:t>GitHub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4375" y="2194560"/>
            <a:ext cx="1691640" cy="274320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4375" y="2194560"/>
            <a:ext cx="1691640" cy="36576"/>
          </a:xfrm>
          <a:prstGeom prst="rect">
            <a:avLst/>
          </a:prstGeom>
          <a:solidFill>
            <a:srgbClr val="4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5815" y="24231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4D6BFF"/>
                </a:solidFill>
                <a:latin typeface="Microsoft YaHei"/>
              </a:defRPr>
            </a:pPr>
            <a:r>
              <a:t>DeepSeek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5815" y="31089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国产大模型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5815" y="37947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6B788A"/>
                </a:solidFill>
                <a:latin typeface="Microsoft YaHei"/>
              </a:defRPr>
            </a:pPr>
            <a:r>
              <a:t>platform.deepseek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90607" y="2194560"/>
            <a:ext cx="1691640" cy="2743200"/>
          </a:xfrm>
          <a:prstGeom prst="rect">
            <a:avLst/>
          </a:prstGeom>
          <a:solidFill>
            <a:srgbClr val="18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90607" y="2194560"/>
            <a:ext cx="1691640" cy="36576"/>
          </a:xfrm>
          <a:prstGeom prst="rect">
            <a:avLst/>
          </a:prstGeom>
          <a:solidFill>
            <a:srgbClr val="F2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2047" y="24231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00"/>
              </a:lnSpc>
              <a:spcAft>
                <a:spcPts val="200"/>
              </a:spcAft>
              <a:defRPr sz="1600" b="1">
                <a:solidFill>
                  <a:srgbClr val="F25C3B"/>
                </a:solidFill>
                <a:latin typeface="Microsoft YaHei"/>
              </a:defRPr>
            </a:pPr>
            <a:r>
              <a:t>VS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2047" y="31089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A0ACBA"/>
                </a:solidFill>
                <a:latin typeface="Microsoft YaHei"/>
              </a:defRPr>
            </a:pPr>
            <a:r>
              <a:t>可视化编辑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2047" y="379476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6B788A"/>
                </a:solidFill>
                <a:latin typeface="Microsoft YaHei"/>
              </a:defRPr>
            </a:pPr>
            <a:r>
              <a:t>插件市场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34924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25"/>
              </a:lnSpc>
              <a:spcAft>
                <a:spcPts val="200"/>
              </a:spcAft>
              <a:defRPr sz="1700" b="0">
                <a:solidFill>
                  <a:srgbClr val="E8ECF0"/>
                </a:solidFill>
                <a:latin typeface="Microsoft YaHei"/>
              </a:defRPr>
            </a:pPr>
            <a:r>
              <a:t>Claude Code + DeepSeek = 高效 · 低成本 · 无限制</a:t>
            </a:r>
          </a:p>
          <a:p>
            <a:pPr algn="ctr">
              <a:lnSpc>
                <a:spcPts val="2125"/>
              </a:lnSpc>
              <a:spcAft>
                <a:spcPts val="200"/>
              </a:spcAft>
              <a:defRPr sz="1700" b="0">
                <a:solidFill>
                  <a:srgbClr val="E8ECF0"/>
                </a:solidFill>
                <a:latin typeface="Microsoft YaHei"/>
              </a:defRPr>
            </a:pPr>
            <a:r>
              <a:t>无需科学上网 · 无需国外账号 · 成本仅为 Claude 官方的 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