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4572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4572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94183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6480"/>
              </a:lnSpc>
              <a:spcAft>
                <a:spcPts val="200"/>
              </a:spcAft>
              <a:defRPr sz="5400" b="1">
                <a:solidFill>
                  <a:srgbClr val="FFFFFF"/>
                </a:solidFill>
                <a:latin typeface="Microsoft YaHei"/>
              </a:defRPr>
            </a:pPr>
            <a:r>
              <a:t>Claude Code 安装教程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18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879"/>
              </a:lnSpc>
              <a:spcAft>
                <a:spcPts val="200"/>
              </a:spcAft>
              <a:defRPr sz="2400" b="0">
                <a:solidFill>
                  <a:srgbClr val="94A3B8"/>
                </a:solidFill>
                <a:latin typeface="Microsoft YaHei"/>
              </a:defRPr>
            </a:pPr>
            <a:r>
              <a:t>从零开始 · 轻松上手 AI 编程助手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800"/>
              </a:lnSpc>
              <a:spcAft>
                <a:spcPts val="200"/>
              </a:spcAft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t>Node.js  |  Claude Code CLI  |  Git  |  CC-Switch  |  DeepSeek  |  VS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2026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079"/>
              </a:lnSpc>
              <a:spcAft>
                <a:spcPts val="200"/>
              </a:spcAft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安装步骤总览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Aft>
                <a:spcPts val="200"/>
              </a:spcAft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6 步完成 Claude Code 安装与配置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68580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719072"/>
            <a:ext cx="438912" cy="438912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91640"/>
            <a:ext cx="2286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Node.js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975104"/>
            <a:ext cx="5029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运行环境，Claude Code 的基石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450592"/>
            <a:ext cx="68580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523744"/>
            <a:ext cx="438912" cy="438912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496312"/>
            <a:ext cx="2286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Claude Code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779776"/>
            <a:ext cx="5029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npm 全局安装命令行工具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255264"/>
            <a:ext cx="68580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328416"/>
            <a:ext cx="438912" cy="438912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300984"/>
            <a:ext cx="2286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84448"/>
            <a:ext cx="5029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版本控制工具，必须组件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059936"/>
            <a:ext cx="68580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133088"/>
            <a:ext cx="438912" cy="438912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05656"/>
            <a:ext cx="2286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配置文件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389120"/>
            <a:ext cx="5029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修改 claude.json 跳过登录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64608"/>
            <a:ext cx="68580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4937760"/>
            <a:ext cx="438912" cy="438912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910328"/>
            <a:ext cx="2286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CC-Switch + DeepSeek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193792"/>
            <a:ext cx="5029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接入国产大模型，低成本高性价比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669280"/>
            <a:ext cx="68580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" y="5742432"/>
            <a:ext cx="438912" cy="438912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715000"/>
            <a:ext cx="2286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VS Code 集成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5998464"/>
            <a:ext cx="5029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可视化编辑器，效率翻倍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1645920"/>
            <a:ext cx="320040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19202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Aft>
                <a:spcPts val="200"/>
              </a:spcAft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📌 为什么用 CC-Switch?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237744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Claude 是国外产品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需要科学上网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账号经常被封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API 价格昂贵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CC-Switch 一键切换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接入国产 DeepSeek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94A3B8"/>
                </a:solidFill>
                <a:latin typeface="Microsoft YaHei"/>
              </a:defRPr>
            </a:pPr>
            <a:r>
              <a:t>• 无需翻墙，成本更低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5486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安装 Node.js —— 运行环境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Claude Code 依赖 Node.js，必须先安装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Aft>
                <a:spcPts val="200"/>
              </a:spcAft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📥 下载安装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访问官网：https://nodejs.org/zh-cn/download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推荐选择 LTS（长期支持）版本，更加稳定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5303520" cy="457200"/>
          </a:xfrm>
          <a:prstGeom prst="rect">
            <a:avLst/>
          </a:prstGeom>
          <a:solidFill>
            <a:srgbClr val="1E2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defRPr sz="1300">
                <a:solidFill>
                  <a:srgbClr val="38A169"/>
                </a:solidFill>
                <a:latin typeface="Consolas"/>
              </a:defRPr>
            </a:pPr>
            <a:r>
              <a:t>https://nodejs.org/zh-cn/download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Aft>
                <a:spcPts val="200"/>
              </a:spcAft>
              <a:defRPr sz="2200" b="1">
                <a:solidFill>
                  <a:srgbClr val="38A169"/>
                </a:solidFill>
                <a:latin typeface="Microsoft YaHei"/>
              </a:defRPr>
            </a:pPr>
            <a:r>
              <a:t>✅ 验证安装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Win + R → 输入 cmd → 回车打开命令行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617720"/>
            <a:ext cx="3657600" cy="411480"/>
          </a:xfrm>
          <a:prstGeom prst="rect">
            <a:avLst/>
          </a:prstGeom>
          <a:solidFill>
            <a:srgbClr val="1E2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754880"/>
            <a:ext cx="3200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defRPr sz="1400">
                <a:solidFill>
                  <a:srgbClr val="38A169"/>
                </a:solidFill>
                <a:latin typeface="Consolas"/>
              </a:defRPr>
            </a:pPr>
            <a:r>
              <a:t>node -v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Aft>
                <a:spcPts val="200"/>
              </a:spcAft>
              <a:defRPr sz="1400" b="1">
                <a:solidFill>
                  <a:srgbClr val="38A169"/>
                </a:solidFill>
                <a:latin typeface="Microsoft YaHei"/>
              </a:defRPr>
            </a:pPr>
            <a:r>
              <a:t>出现版本号（如 v20.x.x）即表示安装成功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463040"/>
            <a:ext cx="5212080" cy="4937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810275"/>
            <a:ext cx="5029200" cy="24261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5486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安装 Claude Code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通过 npm 全局安装 Claude Code 命令行工具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E9543E"/>
                </a:solidFill>
                <a:latin typeface="Microsoft YaHei"/>
              </a:defRPr>
            </a:pPr>
            <a:r>
              <a:t>⚠️ 重要提示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使用 Windows PowerShell（右键以管理员身份运行）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或直接在 cmd 中执行（同样需要管理员权限）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Aft>
                <a:spcPts val="200"/>
              </a:spcAft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📦 安装命令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5486400" cy="457200"/>
          </a:xfrm>
          <a:prstGeom prst="rect">
            <a:avLst/>
          </a:prstGeom>
          <a:solidFill>
            <a:srgbClr val="1E2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375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defRPr sz="1400">
                <a:solidFill>
                  <a:srgbClr val="38A169"/>
                </a:solidFill>
                <a:latin typeface="Consolas"/>
              </a:defRPr>
            </a:pPr>
            <a:r>
              <a:t>npm install -g @anthropic-ai/claude-code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-g 表示全局安装，安装后在任何目录都可以直接使用 claude 命令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3B82F6"/>
                </a:solidFill>
                <a:latin typeface="Microsoft YaHei"/>
              </a:defRPr>
            </a:pPr>
            <a:r>
              <a:t>💡 加速技巧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92040"/>
            <a:ext cx="548640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83480"/>
            <a:ext cx="5120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38A169"/>
                </a:solidFill>
                <a:latin typeface="Microsoft YaHei"/>
              </a:defRPr>
            </a:pPr>
            <a:r>
              <a:t>如安装速度慢，可切换到国内镜像源：</a:t>
            </a: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38A169"/>
                </a:solidFill>
                <a:latin typeface="Microsoft YaHei"/>
              </a:defRPr>
            </a:pPr>
            <a:r>
              <a:t>npm config set registry https://registry.npmmirror.com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463040"/>
            <a:ext cx="5212080" cy="4937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619600"/>
            <a:ext cx="5029200" cy="28075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5486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安装 Git —— 版本控制工具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Claude Code 运行的必要组件，不安装会报错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Aft>
                <a:spcPts val="200"/>
              </a:spcAft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📥 下载与安装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访问 Git 官网：https://git-scm.com/downloads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下载对应 Windows 版本的安装包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双击运行安装程序，保持默认选项一路 Next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安装完成，在 cmd 中输入 git --version 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E9543E"/>
                </a:solidFill>
                <a:latin typeface="Microsoft YaHei"/>
              </a:defRPr>
            </a:pPr>
            <a:r>
              <a:t>⚠️ 警示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如果未安装 Git，运行 Claude Code 会直接报错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Git 是免费开源软件，安全可靠，请放心安装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12064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1">
                <a:solidFill>
                  <a:srgbClr val="38A169"/>
                </a:solidFill>
                <a:latin typeface="Microsoft YaHei"/>
              </a:defRPr>
            </a:pPr>
            <a:r>
              <a:t>✅ Git 安装成功后，Claude Code 已经可以运行！</a:t>
            </a:r>
          </a:p>
          <a:p>
            <a:pPr algn="l">
              <a:lnSpc>
                <a:spcPts val="1560"/>
              </a:lnSpc>
              <a:spcAft>
                <a:spcPts val="200"/>
              </a:spcAft>
              <a:defRPr sz="1300" b="1">
                <a:solidFill>
                  <a:srgbClr val="38A169"/>
                </a:solidFill>
                <a:latin typeface="Microsoft YaHei"/>
              </a:defRPr>
            </a:pPr>
            <a:r>
              <a:t>    但还需要修改配置跳过登录验证……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463040"/>
            <a:ext cx="5029200" cy="4937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535288"/>
            <a:ext cx="4846320" cy="2976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配置 Claude Code —— 修改 claude.json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绕过首次登录引导，为接入 DeepSeek 做准备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48640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63" y="1554480"/>
            <a:ext cx="4882113" cy="2743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0" y="1463040"/>
            <a:ext cx="548640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3780" y="1554480"/>
            <a:ext cx="410620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5720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🔧 关键配置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找到 claude.json 配置文件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添加 "hasCompletedOnboarding":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623560"/>
            <a:ext cx="5029200" cy="685800"/>
          </a:xfrm>
          <a:prstGeom prst="rect">
            <a:avLst/>
          </a:prstGeom>
          <a:solidFill>
            <a:srgbClr val="1E2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760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defRPr sz="1400">
                <a:solidFill>
                  <a:srgbClr val="38A169"/>
                </a:solidFill>
                <a:latin typeface="Consolas"/>
              </a:defRPr>
            </a:pPr>
            <a:r>
              <a:t>{</a:t>
            </a:r>
          </a:p>
          <a:p>
            <a:pPr>
              <a:lnSpc>
                <a:spcPts val="1890"/>
              </a:lnSpc>
              <a:defRPr sz="1400">
                <a:solidFill>
                  <a:srgbClr val="38A169"/>
                </a:solidFill>
                <a:latin typeface="Consolas"/>
              </a:defRPr>
            </a:pPr>
            <a:r>
              <a:t>  "hasCompletedOnboarding": true</a:t>
            </a:r>
          </a:p>
          <a:p>
            <a:pPr>
              <a:lnSpc>
                <a:spcPts val="1890"/>
              </a:lnSpc>
              <a:defRPr sz="1400">
                <a:solidFill>
                  <a:srgbClr val="38A169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37760"/>
            <a:ext cx="50292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  <a:r>
              <a:t>设置完成后，Claude Code 可以运行，</a:t>
            </a:r>
          </a:p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  <a:r>
              <a:t>但会提示需要登录 Claude 账号。</a:t>
            </a:r>
          </a:p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</a:p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  <a:r>
              <a:t>💡 Claude 是国外大模型，需要付</a:t>
            </a:r>
          </a:p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  <a:r>
              <a:t>    费买 token，账号经常被封。</a:t>
            </a:r>
          </a:p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</a:p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E0E0E0"/>
                </a:solidFill>
                <a:latin typeface="Microsoft YaHei"/>
              </a:defRPr>
            </a:pPr>
            <a:r>
              <a:t>👉 解决方案：接入国产 DeepSeek！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运行 Claude Code —— 登录提示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首次运行会提示登录，我们需要绕过它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566928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325" y="1554480"/>
            <a:ext cx="4492790" cy="2560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0" y="1463040"/>
            <a:ext cx="566928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218" y="1554480"/>
            <a:ext cx="4586204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38912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Aft>
                <a:spcPts val="200"/>
              </a:spcAft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🔑 解决方案：CC-Switch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CC-Switch 是一个开源工具，可一键切换 Claude Code 底层的大模型 API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将 Claude Code 对接 DeepSeek（国产大模型），无需科学上网，成本大幅降低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GitHub 地址：https://github.com/farion1231/cc-switch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下载安装后，配置 DeepSeek API Key 即可使用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安装 CC-Switch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在 GitHub 下载 CC-Switch 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66928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57942"/>
            <a:ext cx="5486400" cy="296507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0" y="1463040"/>
            <a:ext cx="566928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65920"/>
            <a:ext cx="5486400" cy="294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获取 DeepSeek API 密钥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在 DeepSeek 开放平台创建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66928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66786"/>
            <a:ext cx="5486400" cy="25185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0" y="1463040"/>
            <a:ext cx="566928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45051"/>
            <a:ext cx="5486400" cy="25620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5720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📋 操作步骤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打开 DeepSeek API 开放平台：platform.deepseek.com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注册 / 登录账号 → 进入「API Keys」管理页面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点击「创建 API Key」→ 复制生成的密钥（格式为 sk-xxxxx）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⚠️ 密钥仅显示一次，请务必妥善保存！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配置 CC-Switch 接入 DeepSeek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添加模型，粘贴密钥，完成最终配置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48640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007" y="1554480"/>
            <a:ext cx="3961426" cy="27431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0" y="1463040"/>
            <a:ext cx="548640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752" y="1554480"/>
            <a:ext cx="4808256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5720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38A169"/>
                </a:solidFill>
                <a:latin typeface="Microsoft YaHei"/>
              </a:defRPr>
            </a:pPr>
            <a:r>
              <a:t>🎉 配置完成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打开 CC-Switch → 添加模型 → 选择 DeepSeek → 粘贴 API Key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保存配置后，重新进入 cmd 运行 claude</a:t>
            </a:r>
          </a:p>
          <a:p>
            <a:pPr>
              <a:lnSpc>
                <a:spcPts val="1890"/>
              </a:lnSpc>
              <a:spcAft>
                <a:spcPts val="600"/>
              </a:spcAft>
              <a:defRPr sz="1400">
                <a:solidFill>
                  <a:srgbClr val="E0E0E0"/>
                </a:solidFill>
                <a:latin typeface="Microsoft YaHei"/>
              </a:defRPr>
            </a:pPr>
            <a:r>
              <a:t>▸ 不再提示登录，Claude Code 已成功对接 DeepSeek！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DeepSeek 账号充值与使用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完成实名认证和充值后即可畅享 AI 编程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70332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29338"/>
            <a:ext cx="3566160" cy="20106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97680" y="1463040"/>
            <a:ext cx="370332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847407"/>
            <a:ext cx="3566160" cy="197446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463040"/>
            <a:ext cx="370332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1833669"/>
            <a:ext cx="3566160" cy="2001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438912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💰 实名认证 &amp; 充值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DeepSeek 需要实名认证后才能充值使用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按照平台指引完成身份验证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认证通过后选择合适的金额充值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充值后即可无限制调用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754880"/>
            <a:ext cx="484632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4846320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Aft>
                <a:spcPts val="200"/>
              </a:spcAft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DeepSeek vs Claude 价格参考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25780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  <a:r>
              <a:t>DeepSeek-V3</a:t>
            </a: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  <a:r>
              <a:t>  输入：¥1 / 百万 tokens</a:t>
            </a: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  <a:r>
              <a:t>  输出：¥2 / 百万 tokens</a:t>
            </a: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  <a:r>
              <a:t>Claude Sonnet 4</a:t>
            </a: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  <a:r>
              <a:t>  输入：$3 / 百万 tokens</a:t>
            </a:r>
          </a:p>
          <a:p>
            <a:pPr algn="l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E0E0E0"/>
                </a:solidFill>
                <a:latin typeface="Microsoft YaHei"/>
              </a:defRPr>
            </a:pPr>
            <a:r>
              <a:t>  输出：$15 / 百万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6492240"/>
            <a:ext cx="4114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Aft>
                <a:spcPts val="200"/>
              </a:spcAft>
              <a:defRPr sz="1200" b="1">
                <a:solidFill>
                  <a:srgbClr val="38A169"/>
                </a:solidFill>
                <a:latin typeface="Microsoft YaHei"/>
              </a:defRPr>
            </a:pPr>
            <a:r>
              <a:t>👉 DeepSeek 性价比远超 Claude，便宜数十倍！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64008" cy="41148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320040"/>
            <a:ext cx="457200" cy="457200"/>
          </a:xfrm>
          <a:prstGeom prst="ellipse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20040"/>
            <a:ext cx="6400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Aft>
                <a:spcPts val="20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VS Code 集成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6868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Aft>
                <a:spcPts val="200"/>
              </a:spcAft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在可视化编辑器中运行，告别纯命令行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🌟 为什么选择 VS Code？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微软出品的免费编辑器，轻量且功能强大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可视化操作界面，告别纯命令行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可直观查看代码变更、对比差异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丰富插件生态，无限扩展可能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免费！无需付费即可使用全部功能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Aft>
                <a:spcPts val="200"/>
              </a:spcAft>
              <a:defRPr sz="2000" b="1">
                <a:solidFill>
                  <a:srgbClr val="3B82F6"/>
                </a:solidFill>
                <a:latin typeface="Microsoft YaHei"/>
              </a:defRPr>
            </a:pPr>
            <a:r>
              <a:t>🔌 安装 Claude Code 插件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打开 VS Code → 点击左侧扩展图标（Ctrl+Shift+X）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搜索 "Claude Code" → 找到 Anthropic 官方插件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点击 Install → 等待安装完成</a:t>
            </a:r>
          </a:p>
          <a:p>
            <a:pPr>
              <a:lnSpc>
                <a:spcPts val="1755"/>
              </a:lnSpc>
              <a:spcAft>
                <a:spcPts val="600"/>
              </a:spcAft>
              <a:defRPr sz="1300">
                <a:solidFill>
                  <a:srgbClr val="E0E0E0"/>
                </a:solidFill>
                <a:latin typeface="Microsoft YaHei"/>
              </a:defRPr>
            </a:pPr>
            <a:r>
              <a:t>▸ 重启 VS Code → 在终端（Ctrl+`）输入 claude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86400"/>
            <a:ext cx="5303520" cy="640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577840"/>
            <a:ext cx="4937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Aft>
                <a:spcPts val="200"/>
              </a:spcAft>
              <a:defRPr sz="1400" b="1">
                <a:solidFill>
                  <a:srgbClr val="38A169"/>
                </a:solidFill>
                <a:latin typeface="Microsoft YaHei"/>
              </a:defRPr>
            </a:pPr>
            <a:r>
              <a:t>🎉 恭喜！现在你可以在 VS Code 中享受</a:t>
            </a:r>
          </a:p>
          <a:p>
            <a:pPr algn="l">
              <a:lnSpc>
                <a:spcPts val="1680"/>
              </a:lnSpc>
              <a:spcAft>
                <a:spcPts val="200"/>
              </a:spcAft>
              <a:defRPr sz="1400" b="1">
                <a:solidFill>
                  <a:srgbClr val="38A169"/>
                </a:solidFill>
                <a:latin typeface="Microsoft YaHei"/>
              </a:defRPr>
            </a:pPr>
            <a:r>
              <a:t>    可视化 AI 编程体验了！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463040"/>
            <a:ext cx="5212080" cy="4937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25417"/>
            <a:ext cx="5029200" cy="2595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0"/>
            <a:ext cx="12191695" cy="4572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548640"/>
            <a:ext cx="94183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280"/>
              </a:lnSpc>
              <a:spcAft>
                <a:spcPts val="200"/>
              </a:spcAft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🎯 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800"/>
              </a:lnSpc>
              <a:spcAft>
                <a:spcPts val="200"/>
              </a:spcAft>
              <a:defRPr sz="1500" b="0">
                <a:solidFill>
                  <a:srgbClr val="94A3B8"/>
                </a:solidFill>
                <a:latin typeface="Microsoft YaHei"/>
              </a:defRPr>
            </a:pPr>
            <a:r>
              <a:t>安装完成后，在终端输入 claude 即可开启 AI 编程之旅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173736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737360" cy="4572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E9543E"/>
                </a:solidFill>
                <a:latin typeface="Microsoft YaHei"/>
              </a:defRPr>
            </a:pPr>
            <a:r>
              <a:t>Node.js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运行环境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Aft>
                <a:spcPts val="200"/>
              </a:spcAft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nodejs.org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2194560"/>
            <a:ext cx="173736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173736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24688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3B82F6"/>
                </a:solidFill>
                <a:latin typeface="Microsoft YaHei"/>
              </a:defRPr>
            </a:pPr>
            <a: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10896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AI 编程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8404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Aft>
                <a:spcPts val="200"/>
              </a:spcAft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npm install -g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173736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2194560"/>
            <a:ext cx="17373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F59E0B"/>
                </a:solidFill>
                <a:latin typeface="Microsoft YaHei"/>
              </a:defRPr>
            </a:pPr>
            <a:r>
              <a:t>Git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10896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版本控制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8404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Aft>
                <a:spcPts val="200"/>
              </a:spcAft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git-scm.com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194560"/>
            <a:ext cx="173736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194560"/>
            <a:ext cx="1737360" cy="4572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4688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38A169"/>
                </a:solidFill>
                <a:latin typeface="Microsoft YaHei"/>
              </a:defRPr>
            </a:pPr>
            <a:r>
              <a:t>CC-Switch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0896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模型切换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8404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Aft>
                <a:spcPts val="200"/>
              </a:spcAft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GitHub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94560"/>
            <a:ext cx="173736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194560"/>
            <a:ext cx="1737360" cy="45720"/>
          </a:xfrm>
          <a:prstGeom prst="rect">
            <a:avLst/>
          </a:prstGeom>
          <a:solidFill>
            <a:srgbClr val="E95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4688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E9543E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10896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国产大模型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8404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Aft>
                <a:spcPts val="200"/>
              </a:spcAft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platform.deepseek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40" y="2194560"/>
            <a:ext cx="1737360" cy="2926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40" y="2194560"/>
            <a:ext cx="173736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4688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39"/>
              </a:lnSpc>
              <a:spcAft>
                <a:spcPts val="200"/>
              </a:spcAft>
              <a:defRPr sz="1700" b="1">
                <a:solidFill>
                  <a:srgbClr val="3B82F6"/>
                </a:solidFill>
                <a:latin typeface="Microsoft YaHei"/>
              </a:defRPr>
            </a:pPr>
            <a:r>
              <a:t>VS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10896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Aft>
                <a:spcPts val="200"/>
              </a:spcAft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可视化编辑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840480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Aft>
                <a:spcPts val="200"/>
              </a:spcAft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插件市场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486400"/>
            <a:ext cx="94183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160"/>
              </a:lnSpc>
              <a:spcAft>
                <a:spcPts val="200"/>
              </a:spcAft>
              <a:defRPr sz="1800" b="0">
                <a:solidFill>
                  <a:srgbClr val="E0E0E0"/>
                </a:solidFill>
                <a:latin typeface="Microsoft YaHei"/>
              </a:defRPr>
            </a:pPr>
            <a:r>
              <a:t>Claude Code + DeepSeek = 高效 · 低成本 · 无限制的 AI 编程体验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