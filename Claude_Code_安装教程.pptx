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331720"/>
            <a:ext cx="12191695" cy="36576"/>
          </a:xfrm>
          <a:prstGeom prst="rect">
            <a:avLst/>
          </a:prstGeom>
          <a:solidFill>
            <a:srgbClr val="F25C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800600"/>
            <a:ext cx="12191695" cy="36576"/>
          </a:xfrm>
          <a:prstGeom prst="rect">
            <a:avLst/>
          </a:prstGeom>
          <a:solidFill>
            <a:srgbClr val="F25C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2606040"/>
            <a:ext cx="941832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6500"/>
              </a:lnSpc>
              <a:spcAft>
                <a:spcPts val="200"/>
              </a:spcAft>
              <a:defRPr sz="5200" b="1">
                <a:solidFill>
                  <a:srgbClr val="FFFFFF"/>
                </a:solidFill>
                <a:latin typeface="Microsoft YaHei"/>
              </a:defRPr>
            </a:pPr>
            <a:r>
              <a:t>Claude Code 安装教程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11880"/>
            <a:ext cx="94183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2750"/>
              </a:lnSpc>
              <a:spcAft>
                <a:spcPts val="200"/>
              </a:spcAft>
              <a:defRPr sz="2200" b="0">
                <a:solidFill>
                  <a:srgbClr val="A0ACBA"/>
                </a:solidFill>
                <a:latin typeface="Microsoft YaHei"/>
              </a:defRPr>
            </a:pPr>
            <a:r>
              <a:t>从零开始 · 轻松上手 AI 编程助手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074920"/>
            <a:ext cx="94183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750"/>
              </a:lnSpc>
              <a:spcAft>
                <a:spcPts val="200"/>
              </a:spcAft>
              <a:defRPr sz="1400" b="0">
                <a:solidFill>
                  <a:srgbClr val="6B788A"/>
                </a:solidFill>
                <a:latin typeface="Microsoft YaHei"/>
              </a:defRPr>
            </a:pPr>
            <a:r>
              <a:t>Node.js  |  Git  |  Claude Code CLI  |  CC-Switch  |  DeepSeek  |  VS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806440"/>
            <a:ext cx="9418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625"/>
              </a:lnSpc>
              <a:spcAft>
                <a:spcPts val="200"/>
              </a:spcAft>
              <a:defRPr sz="1300" b="0">
                <a:solidFill>
                  <a:srgbClr val="2ECC71"/>
                </a:solidFill>
                <a:latin typeface="Microsoft YaHei"/>
              </a:defRPr>
            </a:pPr>
            <a:r>
              <a:t>搭载 DeepSeek 国产大模型 · 无需科学上网 · 成本仅为 Claude 官方的 2%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411480"/>
            <a:ext cx="54864" cy="365760"/>
          </a:xfrm>
          <a:prstGeom prst="rect">
            <a:avLst/>
          </a:prstGeom>
          <a:solidFill>
            <a:srgbClr val="F25C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56032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500"/>
              </a:lnSpc>
              <a:spcAft>
                <a:spcPts val="200"/>
              </a:spcAft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安装步骤总览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749808"/>
            <a:ext cx="8229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A0ACBA"/>
                </a:solidFill>
                <a:latin typeface="Microsoft YaHei"/>
              </a:defRPr>
            </a:pPr>
            <a:r>
              <a:t>6 步完成 Claude Code 安装与 DeepSeek 接入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6675120" cy="603504"/>
          </a:xfrm>
          <a:prstGeom prst="rect">
            <a:avLst/>
          </a:prstGeom>
          <a:solidFill>
            <a:srgbClr val="18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41248" y="1600200"/>
            <a:ext cx="402336" cy="402336"/>
          </a:xfrm>
          <a:prstGeom prst="ellipse">
            <a:avLst/>
          </a:prstGeom>
          <a:solidFill>
            <a:srgbClr val="F25C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563624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000"/>
              </a:lnSpc>
              <a:spcAft>
                <a:spcPts val="200"/>
              </a:spcAft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Node.js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837944"/>
            <a:ext cx="50292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A0ACBA"/>
                </a:solidFill>
                <a:latin typeface="Microsoft YaHei"/>
              </a:defRPr>
            </a:pPr>
            <a:r>
              <a:t>运行环境，Claude Code 的基石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67128"/>
            <a:ext cx="6675120" cy="603504"/>
          </a:xfrm>
          <a:prstGeom prst="rect">
            <a:avLst/>
          </a:prstGeom>
          <a:solidFill>
            <a:srgbClr val="18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841248" y="2258568"/>
            <a:ext cx="402336" cy="402336"/>
          </a:xfrm>
          <a:prstGeom prst="ellipse">
            <a:avLst/>
          </a:prstGeom>
          <a:solidFill>
            <a:srgbClr val="F25C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221992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000"/>
              </a:lnSpc>
              <a:spcAft>
                <a:spcPts val="200"/>
              </a:spcAft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Git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496312"/>
            <a:ext cx="50292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A0ACBA"/>
                </a:solidFill>
                <a:latin typeface="Microsoft YaHei"/>
              </a:defRPr>
            </a:pPr>
            <a:r>
              <a:t>版本控制工具，必须组件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825496"/>
            <a:ext cx="6675120" cy="603504"/>
          </a:xfrm>
          <a:prstGeom prst="rect">
            <a:avLst/>
          </a:prstGeom>
          <a:solidFill>
            <a:srgbClr val="18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41248" y="2916936"/>
            <a:ext cx="402336" cy="402336"/>
          </a:xfrm>
          <a:prstGeom prst="ellipse">
            <a:avLst/>
          </a:prstGeom>
          <a:solidFill>
            <a:srgbClr val="F25C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2880360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000"/>
              </a:lnSpc>
              <a:spcAft>
                <a:spcPts val="200"/>
              </a:spcAft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Claude Code CLI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154680"/>
            <a:ext cx="50292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A0ACBA"/>
                </a:solidFill>
                <a:latin typeface="Microsoft YaHei"/>
              </a:defRPr>
            </a:pPr>
            <a:r>
              <a:t>npm 全局安装 + 配置文件修改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483864"/>
            <a:ext cx="6675120" cy="603504"/>
          </a:xfrm>
          <a:prstGeom prst="rect">
            <a:avLst/>
          </a:prstGeom>
          <a:solidFill>
            <a:srgbClr val="18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41248" y="3575304"/>
            <a:ext cx="402336" cy="402336"/>
          </a:xfrm>
          <a:prstGeom prst="ellipse">
            <a:avLst/>
          </a:prstGeom>
          <a:solidFill>
            <a:srgbClr val="F25C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538728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000"/>
              </a:lnSpc>
              <a:spcAft>
                <a:spcPts val="200"/>
              </a:spcAft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CC-Switch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813048"/>
            <a:ext cx="50292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A0ACBA"/>
                </a:solidFill>
                <a:latin typeface="Microsoft YaHei"/>
              </a:defRPr>
            </a:pPr>
            <a:r>
              <a:t>开源模型切换工具，告别登录限制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142232"/>
            <a:ext cx="6675120" cy="603504"/>
          </a:xfrm>
          <a:prstGeom prst="rect">
            <a:avLst/>
          </a:prstGeom>
          <a:solidFill>
            <a:srgbClr val="18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41248" y="4233672"/>
            <a:ext cx="402336" cy="402336"/>
          </a:xfrm>
          <a:prstGeom prst="ellipse">
            <a:avLst/>
          </a:prstGeom>
          <a:solidFill>
            <a:srgbClr val="F25C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4197096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000"/>
              </a:lnSpc>
              <a:spcAft>
                <a:spcPts val="200"/>
              </a:spcAft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DeepSeek 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4471416"/>
            <a:ext cx="50292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A0ACBA"/>
                </a:solidFill>
                <a:latin typeface="Microsoft YaHei"/>
              </a:defRPr>
            </a:pPr>
            <a:r>
              <a:t>国产大模型，成本仅为 Claude 的 2%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4800600"/>
            <a:ext cx="6675120" cy="603504"/>
          </a:xfrm>
          <a:prstGeom prst="rect">
            <a:avLst/>
          </a:prstGeom>
          <a:solidFill>
            <a:srgbClr val="18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41248" y="4892040"/>
            <a:ext cx="402336" cy="402336"/>
          </a:xfrm>
          <a:prstGeom prst="ellipse">
            <a:avLst/>
          </a:prstGeom>
          <a:solidFill>
            <a:srgbClr val="F25C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4855464"/>
            <a:ext cx="2011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000"/>
              </a:lnSpc>
              <a:spcAft>
                <a:spcPts val="200"/>
              </a:spcAft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VS Code 集成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5129784"/>
            <a:ext cx="50292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A0ACBA"/>
                </a:solidFill>
                <a:latin typeface="Microsoft YaHei"/>
              </a:defRPr>
            </a:pPr>
            <a:r>
              <a:t>可视化编辑器，效率翻倍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80960" y="1508760"/>
            <a:ext cx="3779215" cy="3895344"/>
          </a:xfrm>
          <a:prstGeom prst="rect">
            <a:avLst/>
          </a:prstGeom>
          <a:solidFill>
            <a:srgbClr val="18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09560" y="1691640"/>
            <a:ext cx="3322015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75"/>
              </a:lnSpc>
              <a:spcAft>
                <a:spcPts val="200"/>
              </a:spcAft>
              <a:defRPr sz="1500" b="1">
                <a:solidFill>
                  <a:srgbClr val="F79E1B"/>
                </a:solidFill>
                <a:latin typeface="Microsoft YaHei"/>
              </a:defRPr>
            </a:pPr>
            <a:r>
              <a:t>📌 为什么用 CC-Switch？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09560" y="2167128"/>
            <a:ext cx="332201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85"/>
              </a:lnSpc>
              <a:spcAft>
                <a:spcPts val="400"/>
              </a:spcAft>
              <a:defRPr sz="1100">
                <a:solidFill>
                  <a:srgbClr val="A0ACBA"/>
                </a:solidFill>
                <a:latin typeface="Microsoft YaHei"/>
              </a:defRPr>
            </a:pPr>
            <a:r>
              <a:t>• Claude 是国外产品，需科学上网</a:t>
            </a:r>
          </a:p>
          <a:p>
            <a:pPr>
              <a:lnSpc>
                <a:spcPts val="1485"/>
              </a:lnSpc>
              <a:spcAft>
                <a:spcPts val="400"/>
              </a:spcAft>
              <a:defRPr sz="1100">
                <a:solidFill>
                  <a:srgbClr val="A0ACBA"/>
                </a:solidFill>
                <a:latin typeface="Microsoft YaHei"/>
              </a:defRPr>
            </a:pPr>
            <a:r>
              <a:t>• 账号经常被封禁，不稳定</a:t>
            </a:r>
          </a:p>
          <a:p>
            <a:pPr>
              <a:lnSpc>
                <a:spcPts val="1485"/>
              </a:lnSpc>
              <a:spcAft>
                <a:spcPts val="400"/>
              </a:spcAft>
              <a:defRPr sz="1100">
                <a:solidFill>
                  <a:srgbClr val="A0ACBA"/>
                </a:solidFill>
                <a:latin typeface="Microsoft YaHei"/>
              </a:defRPr>
            </a:pPr>
            <a:r>
              <a:t>• API 价格昂贵 ($3~15 / 百万 tokens)</a:t>
            </a:r>
          </a:p>
          <a:p>
            <a:pPr>
              <a:lnSpc>
                <a:spcPts val="1485"/>
              </a:lnSpc>
              <a:spcAft>
                <a:spcPts val="400"/>
              </a:spcAft>
              <a:defRPr sz="1100">
                <a:solidFill>
                  <a:srgbClr val="A0ACBA"/>
                </a:solidFill>
                <a:latin typeface="Microsoft YaHei"/>
              </a:defRPr>
            </a:pPr>
            <a:r>
              <a:t>• </a:t>
            </a:r>
          </a:p>
          <a:p>
            <a:pPr>
              <a:lnSpc>
                <a:spcPts val="1485"/>
              </a:lnSpc>
              <a:spcAft>
                <a:spcPts val="400"/>
              </a:spcAft>
              <a:defRPr sz="1100">
                <a:solidFill>
                  <a:srgbClr val="A0ACBA"/>
                </a:solidFill>
                <a:latin typeface="Microsoft YaHei"/>
              </a:defRPr>
            </a:pPr>
            <a:r>
              <a:t>• ✅ CC-Switch 一键切换模型</a:t>
            </a:r>
          </a:p>
          <a:p>
            <a:pPr>
              <a:lnSpc>
                <a:spcPts val="1485"/>
              </a:lnSpc>
              <a:spcAft>
                <a:spcPts val="400"/>
              </a:spcAft>
              <a:defRPr sz="1100">
                <a:solidFill>
                  <a:srgbClr val="A0ACBA"/>
                </a:solidFill>
                <a:latin typeface="Microsoft YaHei"/>
              </a:defRPr>
            </a:pPr>
            <a:r>
              <a:t>• ✅ 接入国产 DeepSeek</a:t>
            </a:r>
          </a:p>
          <a:p>
            <a:pPr>
              <a:lnSpc>
                <a:spcPts val="1485"/>
              </a:lnSpc>
              <a:spcAft>
                <a:spcPts val="400"/>
              </a:spcAft>
              <a:defRPr sz="1100">
                <a:solidFill>
                  <a:srgbClr val="A0ACBA"/>
                </a:solidFill>
                <a:latin typeface="Microsoft YaHei"/>
              </a:defRPr>
            </a:pPr>
            <a:r>
              <a:t>• ✅ 无需翻墙，成本降低 98%</a:t>
            </a:r>
          </a:p>
          <a:p>
            <a:pPr>
              <a:lnSpc>
                <a:spcPts val="1485"/>
              </a:lnSpc>
              <a:spcAft>
                <a:spcPts val="400"/>
              </a:spcAft>
              <a:defRPr sz="1100">
                <a:solidFill>
                  <a:srgbClr val="A0ACBA"/>
                </a:solidFill>
                <a:latin typeface="Microsoft YaHei"/>
              </a:defRPr>
            </a:pPr>
            <a:r>
              <a:t>• ✅ 中文理解能力更出色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411480"/>
            <a:ext cx="54864" cy="365760"/>
          </a:xfrm>
          <a:prstGeom prst="rect">
            <a:avLst/>
          </a:prstGeom>
          <a:solidFill>
            <a:srgbClr val="F25C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31520" y="274320"/>
            <a:ext cx="384048" cy="384048"/>
          </a:xfrm>
          <a:prstGeom prst="ellipse">
            <a:avLst/>
          </a:prstGeom>
          <a:solidFill>
            <a:srgbClr val="F25C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56032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500"/>
              </a:lnSpc>
              <a:spcAft>
                <a:spcPts val="200"/>
              </a:spcAft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安装 Node.js —— 运行环境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49808"/>
            <a:ext cx="8229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A0ACBA"/>
                </a:solidFill>
                <a:latin typeface="Microsoft YaHei"/>
              </a:defRPr>
            </a:pPr>
            <a:r>
              <a:t>Claude Code 依赖 Node.js 18+，推荐安装 LTS 版本</a:t>
            </a:r>
          </a:p>
        </p:txBody>
      </p:sp>
      <p:sp>
        <p:nvSpPr>
          <p:cNvPr id="6" name="Rectangle 5"/>
          <p:cNvSpPr/>
          <p:nvPr/>
        </p:nvSpPr>
        <p:spPr>
          <a:xfrm>
            <a:off x="6815023" y="1252728"/>
            <a:ext cx="4718304" cy="4535424"/>
          </a:xfrm>
          <a:prstGeom prst="rect">
            <a:avLst/>
          </a:prstGeom>
          <a:solidFill>
            <a:srgbClr val="18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8175" y="2417636"/>
            <a:ext cx="4572000" cy="2205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371600"/>
            <a:ext cx="5790895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500"/>
              </a:lnSpc>
              <a:spcAft>
                <a:spcPts val="200"/>
              </a:spcAft>
              <a:defRPr sz="2000" b="1">
                <a:solidFill>
                  <a:srgbClr val="F79E1B"/>
                </a:solidFill>
                <a:latin typeface="Microsoft YaHei"/>
              </a:defRPr>
            </a:pPr>
            <a:r>
              <a:t>📥 下载安装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57908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755"/>
              </a:lnSpc>
              <a:spcAft>
                <a:spcPts val="400"/>
              </a:spcAft>
              <a:defRPr sz="1300">
                <a:solidFill>
                  <a:srgbClr val="E8ECF0"/>
                </a:solidFill>
                <a:latin typeface="Microsoft YaHei"/>
              </a:defRPr>
            </a:pPr>
            <a:r>
              <a:t>▸ 官网：https://nodejs.org/zh-cn/download</a:t>
            </a:r>
          </a:p>
          <a:p>
            <a:pPr>
              <a:lnSpc>
                <a:spcPts val="1755"/>
              </a:lnSpc>
              <a:spcAft>
                <a:spcPts val="400"/>
              </a:spcAft>
              <a:defRPr sz="1300">
                <a:solidFill>
                  <a:srgbClr val="E8ECF0"/>
                </a:solidFill>
                <a:latin typeface="Microsoft YaHei"/>
              </a:defRPr>
            </a:pPr>
            <a:r>
              <a:t>▸ 推荐选择 LTS（长期支持）版本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468880"/>
            <a:ext cx="5790895" cy="365760"/>
          </a:xfrm>
          <a:prstGeom prst="rect">
            <a:avLst/>
          </a:prstGeom>
          <a:solidFill>
            <a:srgbClr val="202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542513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60"/>
              </a:lnSpc>
              <a:defRPr sz="1200">
                <a:solidFill>
                  <a:srgbClr val="2ECC71"/>
                </a:solidFill>
                <a:latin typeface="Cascadia Code"/>
              </a:defRPr>
            </a:pPr>
            <a:r>
              <a:t>https://nodejs.org/zh-cn/download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08960"/>
            <a:ext cx="5790895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500"/>
              </a:lnSpc>
              <a:spcAft>
                <a:spcPts val="200"/>
              </a:spcAft>
              <a:defRPr sz="2000" b="1">
                <a:solidFill>
                  <a:srgbClr val="2ECC71"/>
                </a:solidFill>
                <a:latin typeface="Microsoft YaHei"/>
              </a:defRPr>
            </a:pPr>
            <a:r>
              <a:t>✅ 验证安装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20440"/>
            <a:ext cx="5790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755"/>
              </a:lnSpc>
              <a:spcAft>
                <a:spcPts val="400"/>
              </a:spcAft>
              <a:defRPr sz="1300">
                <a:solidFill>
                  <a:srgbClr val="E8ECF0"/>
                </a:solidFill>
                <a:latin typeface="Microsoft YaHei"/>
              </a:defRPr>
            </a:pPr>
            <a:r>
              <a:t>▸ Win + R → 输入 cmd → 回车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023360"/>
            <a:ext cx="2743200" cy="365760"/>
          </a:xfrm>
          <a:prstGeom prst="rect">
            <a:avLst/>
          </a:prstGeom>
          <a:solidFill>
            <a:srgbClr val="202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4114800"/>
            <a:ext cx="2377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90"/>
              </a:lnSpc>
              <a:defRPr sz="1300">
                <a:solidFill>
                  <a:srgbClr val="2ECC71"/>
                </a:solidFill>
                <a:latin typeface="Cascadia Code"/>
              </a:defRPr>
            </a:pPr>
            <a:r>
              <a:t>node -v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572000"/>
            <a:ext cx="5790895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25"/>
              </a:lnSpc>
              <a:spcAft>
                <a:spcPts val="200"/>
              </a:spcAft>
              <a:defRPr sz="1300" b="0">
                <a:solidFill>
                  <a:srgbClr val="2ECC71"/>
                </a:solidFill>
                <a:latin typeface="Microsoft YaHei"/>
              </a:defRPr>
            </a:pPr>
            <a:r>
              <a:t>出现版本号（如 v20.x.x）表示安装成功 ✓</a:t>
            </a:r>
          </a:p>
          <a:p>
            <a:pPr algn="l">
              <a:lnSpc>
                <a:spcPts val="1625"/>
              </a:lnSpc>
              <a:spcAft>
                <a:spcPts val="200"/>
              </a:spcAft>
              <a:defRPr sz="1300" b="0">
                <a:solidFill>
                  <a:srgbClr val="2ECC71"/>
                </a:solidFill>
                <a:latin typeface="Microsoft YaHei"/>
              </a:defRPr>
            </a:pPr>
            <a:r>
              <a:t>如果未出现，请重新安装或检查环境变量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411480"/>
            <a:ext cx="54864" cy="365760"/>
          </a:xfrm>
          <a:prstGeom prst="rect">
            <a:avLst/>
          </a:prstGeom>
          <a:solidFill>
            <a:srgbClr val="F25C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31520" y="274320"/>
            <a:ext cx="384048" cy="384048"/>
          </a:xfrm>
          <a:prstGeom prst="ellipse">
            <a:avLst/>
          </a:prstGeom>
          <a:solidFill>
            <a:srgbClr val="F25C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56032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500"/>
              </a:lnSpc>
              <a:spcAft>
                <a:spcPts val="200"/>
              </a:spcAft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安装 Git —— 版本控制工具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49808"/>
            <a:ext cx="8229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A0ACBA"/>
                </a:solidFill>
                <a:latin typeface="Microsoft YaHei"/>
              </a:defRPr>
            </a:pPr>
            <a:r>
              <a:t>Claude Code 的必要组件，不安装会直接报错</a:t>
            </a:r>
          </a:p>
        </p:txBody>
      </p:sp>
      <p:sp>
        <p:nvSpPr>
          <p:cNvPr id="6" name="Rectangle 5"/>
          <p:cNvSpPr/>
          <p:nvPr/>
        </p:nvSpPr>
        <p:spPr>
          <a:xfrm>
            <a:off x="6815023" y="1252728"/>
            <a:ext cx="4718304" cy="4535424"/>
          </a:xfrm>
          <a:prstGeom prst="rect">
            <a:avLst/>
          </a:prstGeom>
          <a:solidFill>
            <a:srgbClr val="18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8175" y="2116599"/>
            <a:ext cx="4572000" cy="280768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371600"/>
            <a:ext cx="5790895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500"/>
              </a:lnSpc>
              <a:spcAft>
                <a:spcPts val="200"/>
              </a:spcAft>
              <a:defRPr sz="2000" b="1">
                <a:solidFill>
                  <a:srgbClr val="F79E1B"/>
                </a:solidFill>
                <a:latin typeface="Microsoft YaHei"/>
              </a:defRPr>
            </a:pPr>
            <a:r>
              <a:t>📥 下载与安装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5790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755"/>
              </a:lnSpc>
              <a:spcAft>
                <a:spcPts val="400"/>
              </a:spcAft>
              <a:defRPr sz="1300">
                <a:solidFill>
                  <a:srgbClr val="E8ECF0"/>
                </a:solidFill>
                <a:latin typeface="Microsoft YaHei"/>
              </a:defRPr>
            </a:pPr>
            <a:r>
              <a:t>▸ 官网：https://git-scm.com/downloads</a:t>
            </a:r>
          </a:p>
          <a:p>
            <a:pPr>
              <a:lnSpc>
                <a:spcPts val="1755"/>
              </a:lnSpc>
              <a:spcAft>
                <a:spcPts val="400"/>
              </a:spcAft>
              <a:defRPr sz="1300">
                <a:solidFill>
                  <a:srgbClr val="E8ECF0"/>
                </a:solidFill>
                <a:latin typeface="Microsoft YaHei"/>
              </a:defRPr>
            </a:pPr>
            <a:r>
              <a:t>▸ 下载 Windows 版本安装包</a:t>
            </a:r>
          </a:p>
          <a:p>
            <a:pPr>
              <a:lnSpc>
                <a:spcPts val="1755"/>
              </a:lnSpc>
              <a:spcAft>
                <a:spcPts val="400"/>
              </a:spcAft>
              <a:defRPr sz="1300">
                <a:solidFill>
                  <a:srgbClr val="E8ECF0"/>
                </a:solidFill>
                <a:latin typeface="Microsoft YaHei"/>
              </a:defRPr>
            </a:pPr>
            <a:r>
              <a:t>▸ 双击运行，保持默认选项一路 Next</a:t>
            </a:r>
          </a:p>
          <a:p>
            <a:pPr>
              <a:lnSpc>
                <a:spcPts val="1755"/>
              </a:lnSpc>
              <a:spcAft>
                <a:spcPts val="400"/>
              </a:spcAft>
              <a:defRPr sz="1300">
                <a:solidFill>
                  <a:srgbClr val="E8ECF0"/>
                </a:solidFill>
                <a:latin typeface="Microsoft YaHei"/>
              </a:defRPr>
            </a:pPr>
            <a:r>
              <a:t>▸ 安装后 cmd 中输入 git --version 验证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5790895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250"/>
              </a:lnSpc>
              <a:spcAft>
                <a:spcPts val="200"/>
              </a:spcAft>
              <a:defRPr sz="1800" b="1">
                <a:solidFill>
                  <a:srgbClr val="F25C3B"/>
                </a:solidFill>
                <a:latin typeface="Microsoft YaHei"/>
              </a:defRPr>
            </a:pPr>
            <a:r>
              <a:t>⚠️ 重要提醒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840480"/>
            <a:ext cx="5790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755"/>
              </a:lnSpc>
              <a:spcAft>
                <a:spcPts val="400"/>
              </a:spcAft>
              <a:defRPr sz="1300">
                <a:solidFill>
                  <a:srgbClr val="E8ECF0"/>
                </a:solidFill>
                <a:latin typeface="Microsoft YaHei"/>
              </a:defRPr>
            </a:pPr>
            <a:r>
              <a:t>▸ 不装 Git，Claude Code 直接报错退出</a:t>
            </a:r>
          </a:p>
          <a:p>
            <a:pPr>
              <a:lnSpc>
                <a:spcPts val="1755"/>
              </a:lnSpc>
              <a:spcAft>
                <a:spcPts val="400"/>
              </a:spcAft>
              <a:defRPr sz="1300">
                <a:solidFill>
                  <a:srgbClr val="E8ECF0"/>
                </a:solidFill>
                <a:latin typeface="Microsoft YaHei"/>
              </a:defRPr>
            </a:pPr>
            <a:r>
              <a:t>▸ Git 是免费开源软件，安全可靠</a:t>
            </a:r>
          </a:p>
          <a:p>
            <a:pPr>
              <a:lnSpc>
                <a:spcPts val="1755"/>
              </a:lnSpc>
              <a:spcAft>
                <a:spcPts val="400"/>
              </a:spcAft>
              <a:defRPr sz="1300">
                <a:solidFill>
                  <a:srgbClr val="E8ECF0"/>
                </a:solidFill>
                <a:latin typeface="Microsoft YaHei"/>
              </a:defRPr>
            </a:pPr>
            <a:r>
              <a:t>▸ 如已安装仍报错，检查 PATH 环境变量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937760"/>
            <a:ext cx="5790895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25"/>
              </a:lnSpc>
              <a:spcAft>
                <a:spcPts val="200"/>
              </a:spcAft>
              <a:defRPr sz="1300" b="1">
                <a:solidFill>
                  <a:srgbClr val="2ECC71"/>
                </a:solidFill>
                <a:latin typeface="Microsoft YaHei"/>
              </a:defRPr>
            </a:pPr>
            <a:r>
              <a:t>✅ Git 安装成功后，Claude Code 已经可以运行！</a:t>
            </a:r>
          </a:p>
          <a:p>
            <a:pPr algn="l">
              <a:lnSpc>
                <a:spcPts val="1625"/>
              </a:lnSpc>
              <a:spcAft>
                <a:spcPts val="200"/>
              </a:spcAft>
              <a:defRPr sz="1300" b="1">
                <a:solidFill>
                  <a:srgbClr val="2ECC71"/>
                </a:solidFill>
                <a:latin typeface="Microsoft YaHei"/>
              </a:defRPr>
            </a:pPr>
            <a:r>
              <a:t>   但还需要修改配置文件跳过登录验证……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411480"/>
            <a:ext cx="54864" cy="365760"/>
          </a:xfrm>
          <a:prstGeom prst="rect">
            <a:avLst/>
          </a:prstGeom>
          <a:solidFill>
            <a:srgbClr val="F25C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31520" y="274320"/>
            <a:ext cx="384048" cy="384048"/>
          </a:xfrm>
          <a:prstGeom prst="ellipse">
            <a:avLst/>
          </a:prstGeom>
          <a:solidFill>
            <a:srgbClr val="F25C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56032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500"/>
              </a:lnSpc>
              <a:spcAft>
                <a:spcPts val="200"/>
              </a:spcAft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安装 Claude Code CLI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49808"/>
            <a:ext cx="8229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A0ACBA"/>
                </a:solidFill>
                <a:latin typeface="Microsoft YaHei"/>
              </a:defRPr>
            </a:pPr>
            <a:r>
              <a:t>npm 全局安装 + 配置文件修改，两步完成</a:t>
            </a:r>
          </a:p>
        </p:txBody>
      </p:sp>
      <p:sp>
        <p:nvSpPr>
          <p:cNvPr id="6" name="Rectangle 5"/>
          <p:cNvSpPr/>
          <p:nvPr/>
        </p:nvSpPr>
        <p:spPr>
          <a:xfrm>
            <a:off x="6815023" y="1252728"/>
            <a:ext cx="4718304" cy="4535424"/>
          </a:xfrm>
          <a:prstGeom prst="rect">
            <a:avLst/>
          </a:prstGeom>
          <a:solidFill>
            <a:srgbClr val="18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8175" y="2244295"/>
            <a:ext cx="4572000" cy="255229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371600"/>
            <a:ext cx="579089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500"/>
              </a:lnSpc>
              <a:spcAft>
                <a:spcPts val="200"/>
              </a:spcAft>
              <a:defRPr sz="2000" b="1">
                <a:solidFill>
                  <a:srgbClr val="F79E1B"/>
                </a:solidFill>
                <a:latin typeface="Microsoft YaHei"/>
              </a:defRPr>
            </a:pPr>
            <a:r>
              <a:t>📦 安装命令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37360"/>
            <a:ext cx="5790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20"/>
              </a:lnSpc>
              <a:spcAft>
                <a:spcPts val="400"/>
              </a:spcAft>
              <a:defRPr sz="1200">
                <a:solidFill>
                  <a:srgbClr val="E8ECF0"/>
                </a:solidFill>
                <a:latin typeface="Microsoft YaHei"/>
              </a:defRPr>
            </a:pPr>
            <a:r>
              <a:t>▸ 使用 PowerShell（管理员身份）或 cmd 执行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194560"/>
            <a:ext cx="6156655" cy="365760"/>
          </a:xfrm>
          <a:prstGeom prst="rect">
            <a:avLst/>
          </a:prstGeom>
          <a:solidFill>
            <a:srgbClr val="202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286000"/>
            <a:ext cx="579089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90"/>
              </a:lnSpc>
              <a:defRPr sz="1300">
                <a:solidFill>
                  <a:srgbClr val="2ECC71"/>
                </a:solidFill>
                <a:latin typeface="Cascadia Code"/>
              </a:defRPr>
            </a:pPr>
            <a:r>
              <a:t>npm install -g @anthropic-ai/claude-code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88920"/>
            <a:ext cx="579089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000"/>
              </a:lnSpc>
              <a:spcAft>
                <a:spcPts val="200"/>
              </a:spcAft>
              <a:defRPr sz="1600" b="1">
                <a:solidFill>
                  <a:srgbClr val="549EFF"/>
                </a:solidFill>
                <a:latin typeface="Microsoft YaHei"/>
              </a:defRPr>
            </a:pPr>
            <a:r>
              <a:t>💡 加速技巧（安装太慢时使用）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154680"/>
            <a:ext cx="6156655" cy="320040"/>
          </a:xfrm>
          <a:prstGeom prst="rect">
            <a:avLst/>
          </a:prstGeom>
          <a:solidFill>
            <a:srgbClr val="202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3246120"/>
            <a:ext cx="5790895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60"/>
              </a:lnSpc>
              <a:defRPr sz="1200">
                <a:solidFill>
                  <a:srgbClr val="2ECC71"/>
                </a:solidFill>
                <a:latin typeface="Cascadia Code"/>
              </a:defRPr>
            </a:pPr>
            <a:r>
              <a:t>npm config set registry https://registry.npmmirror.com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49040"/>
            <a:ext cx="579089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500"/>
              </a:lnSpc>
              <a:spcAft>
                <a:spcPts val="200"/>
              </a:spcAft>
              <a:defRPr sz="2000" b="1">
                <a:solidFill>
                  <a:srgbClr val="F25C3B"/>
                </a:solidFill>
                <a:latin typeface="Microsoft YaHei"/>
              </a:defRPr>
            </a:pPr>
            <a:r>
              <a:t>🔧 修改配置文件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114800"/>
            <a:ext cx="57908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20"/>
              </a:lnSpc>
              <a:spcAft>
                <a:spcPts val="400"/>
              </a:spcAft>
              <a:defRPr sz="1200">
                <a:solidFill>
                  <a:srgbClr val="E8ECF0"/>
                </a:solidFill>
                <a:latin typeface="Microsoft YaHei"/>
              </a:defRPr>
            </a:pPr>
            <a:r>
              <a:t>▸ 找到 C:\Users\用户名\.claude\claude.json</a:t>
            </a:r>
          </a:p>
          <a:p>
            <a:pPr>
              <a:lnSpc>
                <a:spcPts val="1620"/>
              </a:lnSpc>
              <a:spcAft>
                <a:spcPts val="400"/>
              </a:spcAft>
              <a:defRPr sz="1200">
                <a:solidFill>
                  <a:srgbClr val="E8ECF0"/>
                </a:solidFill>
                <a:latin typeface="Microsoft YaHei"/>
              </a:defRPr>
            </a:pPr>
            <a:r>
              <a:t>▸ 添加 "hasCompletedOnboarding": true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709160"/>
            <a:ext cx="2926080" cy="548640"/>
          </a:xfrm>
          <a:prstGeom prst="rect">
            <a:avLst/>
          </a:prstGeom>
          <a:solidFill>
            <a:srgbClr val="202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4800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90"/>
              </a:lnSpc>
              <a:defRPr sz="1300">
                <a:solidFill>
                  <a:srgbClr val="2ECC71"/>
                </a:solidFill>
                <a:latin typeface="Cascadia Code"/>
              </a:defRPr>
            </a:pPr>
            <a:r>
              <a:t>{</a:t>
            </a:r>
          </a:p>
          <a:p>
            <a:pPr>
              <a:lnSpc>
                <a:spcPts val="1690"/>
              </a:lnSpc>
              <a:defRPr sz="1300">
                <a:solidFill>
                  <a:srgbClr val="2ECC71"/>
                </a:solidFill>
                <a:latin typeface="Cascadia Code"/>
              </a:defRPr>
            </a:pPr>
            <a:r>
              <a:t>  "hasCompletedOnboarding": true</a:t>
            </a:r>
          </a:p>
          <a:p>
            <a:pPr>
              <a:lnSpc>
                <a:spcPts val="1690"/>
              </a:lnSpc>
              <a:defRPr sz="1300">
                <a:solidFill>
                  <a:srgbClr val="2ECC71"/>
                </a:solidFill>
                <a:latin typeface="Cascadia Code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411480"/>
            <a:ext cx="54864" cy="365760"/>
          </a:xfrm>
          <a:prstGeom prst="rect">
            <a:avLst/>
          </a:prstGeom>
          <a:solidFill>
            <a:srgbClr val="F25C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31520" y="274320"/>
            <a:ext cx="384048" cy="384048"/>
          </a:xfrm>
          <a:prstGeom prst="ellipse">
            <a:avLst/>
          </a:prstGeom>
          <a:solidFill>
            <a:srgbClr val="F25C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56032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500"/>
              </a:lnSpc>
              <a:spcAft>
                <a:spcPts val="200"/>
              </a:spcAft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首次运行 —— 登录提示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49808"/>
            <a:ext cx="8229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A0ACBA"/>
                </a:solidFill>
                <a:latin typeface="Microsoft YaHei"/>
              </a:defRPr>
            </a:pPr>
            <a:r>
              <a:t>当前 Claude Code 能运行，但提示登录 Claude 账号</a:t>
            </a:r>
          </a:p>
        </p:txBody>
      </p:sp>
      <p:sp>
        <p:nvSpPr>
          <p:cNvPr id="6" name="Rectangle 5"/>
          <p:cNvSpPr/>
          <p:nvPr/>
        </p:nvSpPr>
        <p:spPr>
          <a:xfrm>
            <a:off x="966063" y="1271016"/>
            <a:ext cx="5047488" cy="3218688"/>
          </a:xfrm>
          <a:prstGeom prst="rect">
            <a:avLst/>
          </a:prstGeom>
          <a:solidFill>
            <a:srgbClr val="18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178143" y="1271016"/>
            <a:ext cx="5047488" cy="3218688"/>
          </a:xfrm>
          <a:prstGeom prst="rect">
            <a:avLst/>
          </a:prstGeom>
          <a:solidFill>
            <a:srgbClr val="18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927" y="1473412"/>
            <a:ext cx="4937760" cy="2813895"/>
          </a:xfrm>
          <a:prstGeom prst="rect">
            <a:avLst/>
          </a:prstGeom>
        </p:spPr>
      </p:pic>
      <p:pic>
        <p:nvPicPr>
          <p:cNvPr id="9" name="Picture 8" descr="image-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1502069"/>
            <a:ext cx="4937759" cy="275658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4754880"/>
            <a:ext cx="10728655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250"/>
              </a:lnSpc>
              <a:spcAft>
                <a:spcPts val="200"/>
              </a:spcAft>
              <a:defRPr sz="1800" b="1">
                <a:solidFill>
                  <a:srgbClr val="F25C3B"/>
                </a:solidFill>
                <a:latin typeface="Microsoft YaHei"/>
              </a:defRPr>
            </a:pPr>
            <a:r>
              <a:t>⚠️ 当前状态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20640"/>
            <a:ext cx="50292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25"/>
              </a:lnSpc>
              <a:spcAft>
                <a:spcPts val="200"/>
              </a:spcAft>
              <a:defRPr sz="1300" b="0">
                <a:solidFill>
                  <a:srgbClr val="A0ACBA"/>
                </a:solidFill>
                <a:latin typeface="Microsoft YaHei"/>
              </a:defRPr>
            </a:pPr>
            <a:r>
              <a:t>已完成 claude.json 配置，可以运行</a:t>
            </a:r>
          </a:p>
          <a:p>
            <a:pPr algn="l">
              <a:lnSpc>
                <a:spcPts val="1625"/>
              </a:lnSpc>
              <a:spcAft>
                <a:spcPts val="200"/>
              </a:spcAft>
              <a:defRPr sz="1300" b="0">
                <a:solidFill>
                  <a:srgbClr val="A0ACBA"/>
                </a:solidFill>
                <a:latin typeface="Microsoft YaHei"/>
              </a:defRPr>
            </a:pPr>
            <a:r>
              <a:t>但会提示需要登录 Claude 账号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4754880"/>
            <a:ext cx="5029200" cy="1554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A0ACBA"/>
                </a:solidFill>
                <a:latin typeface="Microsoft YaHei"/>
              </a:defRPr>
            </a:pPr>
            <a:r>
              <a:rPr dirty="0"/>
              <a:t>💡 </a:t>
            </a:r>
            <a:r>
              <a:rPr dirty="0" err="1"/>
              <a:t>问题分析</a:t>
            </a:r>
            <a:r>
              <a:rPr dirty="0"/>
              <a:t>：</a:t>
            </a:r>
          </a:p>
          <a:p>
            <a:pPr algn="l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A0ACBA"/>
                </a:solidFill>
                <a:latin typeface="Microsoft YaHei"/>
              </a:defRPr>
            </a:pPr>
            <a:endParaRPr dirty="0"/>
          </a:p>
          <a:p>
            <a:pPr algn="l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A0ACBA"/>
                </a:solidFill>
                <a:latin typeface="Microsoft YaHei"/>
              </a:defRPr>
            </a:pPr>
            <a:r>
              <a:rPr dirty="0"/>
              <a:t>   Claude </a:t>
            </a:r>
            <a:r>
              <a:rPr dirty="0" err="1"/>
              <a:t>是国外大模型，需要</a:t>
            </a:r>
            <a:r>
              <a:rPr dirty="0"/>
              <a:t>：</a:t>
            </a:r>
          </a:p>
          <a:p>
            <a:pPr algn="l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A0ACBA"/>
                </a:solidFill>
                <a:latin typeface="Microsoft YaHei"/>
              </a:defRPr>
            </a:pPr>
            <a:r>
              <a:rPr dirty="0"/>
              <a:t>   · </a:t>
            </a:r>
            <a:r>
              <a:rPr dirty="0" err="1"/>
              <a:t>科学上网才能访问</a:t>
            </a:r>
            <a:endParaRPr dirty="0"/>
          </a:p>
          <a:p>
            <a:pPr algn="l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A0ACBA"/>
                </a:solidFill>
                <a:latin typeface="Microsoft YaHei"/>
              </a:defRPr>
            </a:pPr>
            <a:r>
              <a:rPr dirty="0"/>
              <a:t>   · </a:t>
            </a:r>
            <a:r>
              <a:rPr dirty="0" err="1"/>
              <a:t>付费购买</a:t>
            </a:r>
            <a:r>
              <a:rPr dirty="0"/>
              <a:t> </a:t>
            </a:r>
            <a:r>
              <a:rPr dirty="0" err="1"/>
              <a:t>token（价格昂贵</a:t>
            </a:r>
            <a:r>
              <a:rPr dirty="0"/>
              <a:t>）</a:t>
            </a:r>
          </a:p>
          <a:p>
            <a:pPr algn="l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A0ACBA"/>
                </a:solidFill>
                <a:latin typeface="Microsoft YaHei"/>
              </a:defRPr>
            </a:pPr>
            <a:r>
              <a:rPr dirty="0"/>
              <a:t>   · </a:t>
            </a:r>
            <a:r>
              <a:rPr dirty="0" err="1"/>
              <a:t>账号经常被封</a:t>
            </a:r>
            <a:endParaRPr dirty="0"/>
          </a:p>
          <a:p>
            <a:pPr algn="l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A0ACBA"/>
                </a:solidFill>
                <a:latin typeface="Microsoft YaHei"/>
              </a:defRPr>
            </a:pPr>
            <a:endParaRPr dirty="0"/>
          </a:p>
          <a:p>
            <a:pPr algn="l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A0ACBA"/>
                </a:solidFill>
                <a:latin typeface="Microsoft YaHei"/>
              </a:defRPr>
            </a:pPr>
            <a:r>
              <a:rPr dirty="0"/>
              <a:t>   👉 </a:t>
            </a:r>
            <a:r>
              <a:rPr dirty="0" err="1"/>
              <a:t>解决方案：接入国产</a:t>
            </a:r>
            <a:r>
              <a:rPr dirty="0"/>
              <a:t> </a:t>
            </a:r>
            <a:r>
              <a:rPr dirty="0" err="1"/>
              <a:t>DeepSeek</a:t>
            </a:r>
            <a:r>
              <a:rPr dirty="0"/>
              <a:t>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411480"/>
            <a:ext cx="54864" cy="365760"/>
          </a:xfrm>
          <a:prstGeom prst="rect">
            <a:avLst/>
          </a:prstGeom>
          <a:solidFill>
            <a:srgbClr val="F25C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31520" y="274320"/>
            <a:ext cx="384048" cy="384048"/>
          </a:xfrm>
          <a:prstGeom prst="ellipse">
            <a:avLst/>
          </a:prstGeom>
          <a:solidFill>
            <a:srgbClr val="F25C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56032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500"/>
              </a:lnSpc>
              <a:spcAft>
                <a:spcPts val="200"/>
              </a:spcAft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CC-Switch —— 一键切换大模型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49808"/>
            <a:ext cx="8229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A0ACBA"/>
                </a:solidFill>
                <a:latin typeface="Microsoft YaHei"/>
              </a:defRPr>
            </a:pPr>
            <a:r>
              <a:t>开源工具，图形界面操作，支持 DeepSeek 等多款国产模型</a:t>
            </a:r>
          </a:p>
        </p:txBody>
      </p:sp>
      <p:sp>
        <p:nvSpPr>
          <p:cNvPr id="6" name="Rectangle 5"/>
          <p:cNvSpPr/>
          <p:nvPr/>
        </p:nvSpPr>
        <p:spPr>
          <a:xfrm>
            <a:off x="966063" y="1271016"/>
            <a:ext cx="5047488" cy="3218688"/>
          </a:xfrm>
          <a:prstGeom prst="rect">
            <a:avLst/>
          </a:prstGeom>
          <a:solidFill>
            <a:srgbClr val="18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178143" y="1271016"/>
            <a:ext cx="5047488" cy="3218688"/>
          </a:xfrm>
          <a:prstGeom prst="rect">
            <a:avLst/>
          </a:prstGeom>
          <a:solidFill>
            <a:srgbClr val="18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-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927" y="1546076"/>
            <a:ext cx="4937760" cy="2668568"/>
          </a:xfrm>
          <a:prstGeom prst="rect">
            <a:avLst/>
          </a:prstGeom>
        </p:spPr>
      </p:pic>
      <p:pic>
        <p:nvPicPr>
          <p:cNvPr id="9" name="Picture 8" descr="image-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1553256"/>
            <a:ext cx="4937760" cy="26542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4754880"/>
            <a:ext cx="1072865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250"/>
              </a:lnSpc>
              <a:spcAft>
                <a:spcPts val="200"/>
              </a:spcAft>
              <a:defRPr sz="1800" b="1">
                <a:solidFill>
                  <a:srgbClr val="F79E1B"/>
                </a:solidFill>
                <a:latin typeface="Microsoft YaHei"/>
              </a:defRPr>
            </a:pPr>
            <a:r>
              <a:t>🔑 CC-Switch 核心优势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2064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755"/>
              </a:lnSpc>
              <a:spcAft>
                <a:spcPts val="400"/>
              </a:spcAft>
              <a:defRPr sz="1300">
                <a:solidFill>
                  <a:srgbClr val="E8ECF0"/>
                </a:solidFill>
                <a:latin typeface="Microsoft YaHei"/>
              </a:defRPr>
            </a:pPr>
            <a:r>
              <a:t>▸ 开源免费，GitHub 托管：https://github.com/farion1231/cc-switch</a:t>
            </a:r>
          </a:p>
          <a:p>
            <a:pPr>
              <a:lnSpc>
                <a:spcPts val="1755"/>
              </a:lnSpc>
              <a:spcAft>
                <a:spcPts val="400"/>
              </a:spcAft>
              <a:defRPr sz="1300">
                <a:solidFill>
                  <a:srgbClr val="E8ECF0"/>
                </a:solidFill>
                <a:latin typeface="Microsoft YaHei"/>
              </a:defRPr>
            </a:pPr>
            <a:r>
              <a:t>▸ 一键切换 Claude Code 底层大模型 API，无需修改任何代码</a:t>
            </a:r>
          </a:p>
          <a:p>
            <a:pPr>
              <a:lnSpc>
                <a:spcPts val="1755"/>
              </a:lnSpc>
              <a:spcAft>
                <a:spcPts val="400"/>
              </a:spcAft>
              <a:defRPr sz="1300">
                <a:solidFill>
                  <a:srgbClr val="E8ECF0"/>
                </a:solidFill>
                <a:latin typeface="Microsoft YaHei"/>
              </a:defRPr>
            </a:pPr>
            <a:r>
              <a:t>▸ 支持 DeepSeek、通义千问等多个国产模型，图形界面填写 API Key 即可</a:t>
            </a:r>
          </a:p>
          <a:p>
            <a:pPr>
              <a:lnSpc>
                <a:spcPts val="1755"/>
              </a:lnSpc>
              <a:spcAft>
                <a:spcPts val="400"/>
              </a:spcAft>
              <a:defRPr sz="1300">
                <a:solidFill>
                  <a:srgbClr val="E8ECF0"/>
                </a:solidFill>
                <a:latin typeface="Microsoft YaHei"/>
              </a:defRPr>
            </a:pPr>
            <a:r>
              <a:t>▸ 下载 Releases 中的 .exe 安装包，双击运行安装，无需额外配置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411480"/>
            <a:ext cx="54864" cy="365760"/>
          </a:xfrm>
          <a:prstGeom prst="rect">
            <a:avLst/>
          </a:prstGeom>
          <a:solidFill>
            <a:srgbClr val="F25C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31520" y="274320"/>
            <a:ext cx="384048" cy="384048"/>
          </a:xfrm>
          <a:prstGeom prst="ellipse">
            <a:avLst/>
          </a:prstGeom>
          <a:solidFill>
            <a:srgbClr val="F25C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56032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500"/>
              </a:lnSpc>
              <a:spcAft>
                <a:spcPts val="200"/>
              </a:spcAft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获取 DeepSeek API 密钥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49808"/>
            <a:ext cx="8229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A0ACBA"/>
                </a:solidFill>
                <a:latin typeface="Microsoft YaHei"/>
              </a:defRPr>
            </a:pPr>
            <a:r>
              <a:t>在 DeepSeek 开放平台注册账号，创建 API Key</a:t>
            </a:r>
          </a:p>
        </p:txBody>
      </p:sp>
      <p:sp>
        <p:nvSpPr>
          <p:cNvPr id="6" name="Rectangle 5"/>
          <p:cNvSpPr/>
          <p:nvPr/>
        </p:nvSpPr>
        <p:spPr>
          <a:xfrm>
            <a:off x="966063" y="1271016"/>
            <a:ext cx="5047488" cy="2670048"/>
          </a:xfrm>
          <a:prstGeom prst="rect">
            <a:avLst/>
          </a:prstGeom>
          <a:solidFill>
            <a:srgbClr val="18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178143" y="1271016"/>
            <a:ext cx="5047488" cy="2670048"/>
          </a:xfrm>
          <a:prstGeom prst="rect">
            <a:avLst/>
          </a:prstGeom>
          <a:solidFill>
            <a:srgbClr val="18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927" y="1472675"/>
            <a:ext cx="4937760" cy="2266730"/>
          </a:xfrm>
          <a:prstGeom prst="rect">
            <a:avLst/>
          </a:prstGeom>
        </p:spPr>
      </p:pic>
      <p:pic>
        <p:nvPicPr>
          <p:cNvPr id="9" name="Picture 8" descr="image-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1453113"/>
            <a:ext cx="4937760" cy="23058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4206240"/>
            <a:ext cx="1072865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250"/>
              </a:lnSpc>
              <a:spcAft>
                <a:spcPts val="200"/>
              </a:spcAft>
              <a:defRPr sz="1800" b="1">
                <a:solidFill>
                  <a:srgbClr val="F79E1B"/>
                </a:solidFill>
                <a:latin typeface="Microsoft YaHei"/>
              </a:defRPr>
            </a:pPr>
            <a:r>
              <a:t>📋 操作步骤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572000"/>
            <a:ext cx="5943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755"/>
              </a:lnSpc>
              <a:spcAft>
                <a:spcPts val="400"/>
              </a:spcAft>
              <a:defRPr sz="1300">
                <a:solidFill>
                  <a:srgbClr val="E8ECF0"/>
                </a:solidFill>
                <a:latin typeface="Microsoft YaHei"/>
              </a:defRPr>
            </a:pPr>
            <a:r>
              <a:t>▸ ① 打开 platform.deepseek.com → 手机号注册</a:t>
            </a:r>
          </a:p>
          <a:p>
            <a:pPr>
              <a:lnSpc>
                <a:spcPts val="1755"/>
              </a:lnSpc>
              <a:spcAft>
                <a:spcPts val="400"/>
              </a:spcAft>
              <a:defRPr sz="1300">
                <a:solidFill>
                  <a:srgbClr val="E8ECF0"/>
                </a:solidFill>
                <a:latin typeface="Microsoft YaHei"/>
              </a:defRPr>
            </a:pPr>
            <a:r>
              <a:t>▸ ② 登录后进入「API Keys」管理页面</a:t>
            </a:r>
          </a:p>
          <a:p>
            <a:pPr>
              <a:lnSpc>
                <a:spcPts val="1755"/>
              </a:lnSpc>
              <a:spcAft>
                <a:spcPts val="400"/>
              </a:spcAft>
              <a:defRPr sz="1300">
                <a:solidFill>
                  <a:srgbClr val="E8ECF0"/>
                </a:solidFill>
                <a:latin typeface="Microsoft YaHei"/>
              </a:defRPr>
            </a:pPr>
            <a:r>
              <a:t>▸ ③ 点击「创建 API Key」→ 起个名字（如 claude-code）</a:t>
            </a:r>
          </a:p>
          <a:p>
            <a:pPr>
              <a:lnSpc>
                <a:spcPts val="1755"/>
              </a:lnSpc>
              <a:spcAft>
                <a:spcPts val="400"/>
              </a:spcAft>
              <a:defRPr sz="1300">
                <a:solidFill>
                  <a:srgbClr val="E8ECF0"/>
                </a:solidFill>
                <a:latin typeface="Microsoft YaHei"/>
              </a:defRPr>
            </a:pPr>
            <a:r>
              <a:t>▸ ④ ⚠️ 立即复制密钥（sk-xxxx），仅显示一次！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4572000"/>
            <a:ext cx="4846320" cy="1463040"/>
          </a:xfrm>
          <a:prstGeom prst="rect">
            <a:avLst/>
          </a:prstGeom>
          <a:solidFill>
            <a:srgbClr val="18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040880" y="4709160"/>
            <a:ext cx="448056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A0ACBA"/>
                </a:solidFill>
                <a:latin typeface="Microsoft YaHei"/>
              </a:defRPr>
            </a:pPr>
            <a:r>
              <a:t>🔐 安全提醒</a:t>
            </a:r>
          </a:p>
          <a:p>
            <a:pPr algn="l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A0ACBA"/>
                </a:solidFill>
                <a:latin typeface="Microsoft YaHei"/>
              </a:defRPr>
            </a:pPr>
            <a:endParaRPr/>
          </a:p>
          <a:p>
            <a:pPr algn="l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A0ACBA"/>
                </a:solidFill>
                <a:latin typeface="Microsoft YaHei"/>
              </a:defRPr>
            </a:pPr>
            <a:r>
              <a:t>· API Key 关闭页面后无法再次查看</a:t>
            </a:r>
          </a:p>
          <a:p>
            <a:pPr algn="l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A0ACBA"/>
                </a:solidFill>
                <a:latin typeface="Microsoft YaHei"/>
              </a:defRPr>
            </a:pPr>
            <a:r>
              <a:t>· 请复制后保存到安全的地方</a:t>
            </a:r>
          </a:p>
          <a:p>
            <a:pPr algn="l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A0ACBA"/>
                </a:solidFill>
                <a:latin typeface="Microsoft YaHei"/>
              </a:defRPr>
            </a:pPr>
            <a:r>
              <a:t>· 不要将 Key 分享给他人</a:t>
            </a:r>
          </a:p>
          <a:p>
            <a:pPr algn="l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A0ACBA"/>
                </a:solidFill>
                <a:latin typeface="Microsoft YaHei"/>
              </a:defRPr>
            </a:pPr>
            <a:r>
              <a:t>· 泄露后可在平台重新生成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411480"/>
            <a:ext cx="54864" cy="365760"/>
          </a:xfrm>
          <a:prstGeom prst="rect">
            <a:avLst/>
          </a:prstGeom>
          <a:solidFill>
            <a:srgbClr val="F25C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56032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500"/>
              </a:lnSpc>
              <a:spcAft>
                <a:spcPts val="200"/>
              </a:spcAft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配置 CC-Switch 接入 DeepSeek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749808"/>
            <a:ext cx="8229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A0ACBA"/>
                </a:solidFill>
                <a:latin typeface="Microsoft YaHei"/>
              </a:defRPr>
            </a:pPr>
            <a:r>
              <a:t>添加模型 → 选择 DeepSeek → 粘贴 API Key，完成！</a:t>
            </a:r>
          </a:p>
        </p:txBody>
      </p:sp>
      <p:sp>
        <p:nvSpPr>
          <p:cNvPr id="5" name="Rectangle 4"/>
          <p:cNvSpPr/>
          <p:nvPr/>
        </p:nvSpPr>
        <p:spPr>
          <a:xfrm>
            <a:off x="966063" y="1271016"/>
            <a:ext cx="5047488" cy="2852928"/>
          </a:xfrm>
          <a:prstGeom prst="rect">
            <a:avLst/>
          </a:prstGeom>
          <a:solidFill>
            <a:srgbClr val="18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178143" y="1271016"/>
            <a:ext cx="5047488" cy="2852928"/>
          </a:xfrm>
          <a:prstGeom prst="rect">
            <a:avLst/>
          </a:prstGeom>
          <a:solidFill>
            <a:srgbClr val="18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9094" y="1325880"/>
            <a:ext cx="3961426" cy="2743199"/>
          </a:xfrm>
          <a:prstGeom prst="rect">
            <a:avLst/>
          </a:prstGeom>
        </p:spPr>
      </p:pic>
      <p:pic>
        <p:nvPicPr>
          <p:cNvPr id="8" name="Picture 7" descr="image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759" y="1325880"/>
            <a:ext cx="4808256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4389120"/>
            <a:ext cx="1072865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000"/>
              </a:lnSpc>
              <a:spcAft>
                <a:spcPts val="200"/>
              </a:spcAft>
              <a:defRPr sz="1600" b="1">
                <a:solidFill>
                  <a:srgbClr val="2ECC71"/>
                </a:solidFill>
                <a:latin typeface="Microsoft YaHei"/>
              </a:defRPr>
            </a:pPr>
            <a:r>
              <a:t>🎉 配置完成！重新打开 cmd，输入 claude 不再提示登录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5488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755"/>
              </a:lnSpc>
              <a:spcAft>
                <a:spcPts val="400"/>
              </a:spcAft>
              <a:defRPr sz="1300">
                <a:solidFill>
                  <a:srgbClr val="E8ECF0"/>
                </a:solidFill>
                <a:latin typeface="Microsoft YaHei"/>
              </a:defRPr>
            </a:pPr>
            <a:r>
              <a:t>▸ ① 打开 CC-Switch → 进入主界面</a:t>
            </a:r>
          </a:p>
          <a:p>
            <a:pPr>
              <a:lnSpc>
                <a:spcPts val="1755"/>
              </a:lnSpc>
              <a:spcAft>
                <a:spcPts val="400"/>
              </a:spcAft>
              <a:defRPr sz="1300">
                <a:solidFill>
                  <a:srgbClr val="E8ECF0"/>
                </a:solidFill>
                <a:latin typeface="Microsoft YaHei"/>
              </a:defRPr>
            </a:pPr>
            <a:r>
              <a:t>▸ ② 点击「添加模型」→ 在模型列表中选择「DeepSeek」</a:t>
            </a:r>
          </a:p>
          <a:p>
            <a:pPr>
              <a:lnSpc>
                <a:spcPts val="1755"/>
              </a:lnSpc>
              <a:spcAft>
                <a:spcPts val="400"/>
              </a:spcAft>
              <a:defRPr sz="1300">
                <a:solidFill>
                  <a:srgbClr val="E8ECF0"/>
                </a:solidFill>
                <a:latin typeface="Microsoft YaHei"/>
              </a:defRPr>
            </a:pPr>
            <a:r>
              <a:t>▸ ③ 在 API Key 输入框中粘贴刚才复制的密钥 → 保存</a:t>
            </a:r>
          </a:p>
          <a:p>
            <a:pPr>
              <a:lnSpc>
                <a:spcPts val="1755"/>
              </a:lnSpc>
              <a:spcAft>
                <a:spcPts val="400"/>
              </a:spcAft>
              <a:defRPr sz="1300">
                <a:solidFill>
                  <a:srgbClr val="E8ECF0"/>
                </a:solidFill>
                <a:latin typeface="Microsoft YaHei"/>
              </a:defRPr>
            </a:pPr>
            <a:r>
              <a:t>▸ ④ 重新打开 cmd → 输入 claude → 直接进入对话界面！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411480"/>
            <a:ext cx="54864" cy="365760"/>
          </a:xfrm>
          <a:prstGeom prst="rect">
            <a:avLst/>
          </a:prstGeom>
          <a:solidFill>
            <a:srgbClr val="F25C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31520" y="274320"/>
            <a:ext cx="384048" cy="384048"/>
          </a:xfrm>
          <a:prstGeom prst="ellipse">
            <a:avLst/>
          </a:prstGeom>
          <a:solidFill>
            <a:srgbClr val="F25C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56032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500"/>
              </a:lnSpc>
              <a:spcAft>
                <a:spcPts val="200"/>
              </a:spcAft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DeepSeek 定价与充值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49808"/>
            <a:ext cx="8229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A0ACBA"/>
                </a:solidFill>
                <a:latin typeface="Microsoft YaHei"/>
              </a:defRPr>
            </a:pPr>
            <a:r>
              <a:t>实名认证 + 充值 10 元即可，成本仅为 Claude 官方的 2%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291840" cy="1645920"/>
          </a:xfrm>
          <a:prstGeom prst="rect">
            <a:avLst/>
          </a:prstGeom>
          <a:solidFill>
            <a:srgbClr val="18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371600"/>
            <a:ext cx="3291840" cy="3657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50876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250"/>
              </a:lnSpc>
              <a:spcAft>
                <a:spcPts val="200"/>
              </a:spcAft>
              <a:defRPr sz="1800" b="1">
                <a:solidFill>
                  <a:srgbClr val="2ECC71"/>
                </a:solidFill>
                <a:latin typeface="Microsoft YaHei"/>
              </a:defRPr>
            </a:pPr>
            <a:r>
              <a:t>🟢 DeepSeek-V3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920240"/>
            <a:ext cx="274320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25"/>
              </a:lnSpc>
              <a:spcAft>
                <a:spcPts val="200"/>
              </a:spcAft>
              <a:defRPr sz="1300" b="0">
                <a:solidFill>
                  <a:srgbClr val="E8ECF0"/>
                </a:solidFill>
                <a:latin typeface="Microsoft YaHei"/>
              </a:defRPr>
            </a:pPr>
            <a:r>
              <a:t>输入：¥1.0  / 百万 tokens</a:t>
            </a:r>
          </a:p>
          <a:p>
            <a:pPr algn="l">
              <a:lnSpc>
                <a:spcPts val="1625"/>
              </a:lnSpc>
              <a:spcAft>
                <a:spcPts val="200"/>
              </a:spcAft>
              <a:defRPr sz="1300" b="0">
                <a:solidFill>
                  <a:srgbClr val="E8ECF0"/>
                </a:solidFill>
                <a:latin typeface="Microsoft YaHei"/>
              </a:defRPr>
            </a:pPr>
            <a:r>
              <a:t>输出：¥2.0  / 百万 tokens</a:t>
            </a:r>
          </a:p>
          <a:p>
            <a:pPr algn="l">
              <a:lnSpc>
                <a:spcPts val="1625"/>
              </a:lnSpc>
              <a:spcAft>
                <a:spcPts val="200"/>
              </a:spcAft>
              <a:defRPr sz="1300" b="0">
                <a:solidFill>
                  <a:srgbClr val="E8ECF0"/>
                </a:solidFill>
                <a:latin typeface="Microsoft YaHei"/>
              </a:defRPr>
            </a:pPr>
            <a:endParaRPr/>
          </a:p>
          <a:p>
            <a:pPr algn="l">
              <a:lnSpc>
                <a:spcPts val="1625"/>
              </a:lnSpc>
              <a:spcAft>
                <a:spcPts val="200"/>
              </a:spcAft>
              <a:defRPr sz="1300" b="0">
                <a:solidFill>
                  <a:srgbClr val="E8ECF0"/>
                </a:solidFill>
                <a:latin typeface="Microsoft YaHei"/>
              </a:defRPr>
            </a:pPr>
            <a:r>
              <a:t>≈ 充值 1 元 = 50 万字对话</a:t>
            </a:r>
          </a:p>
          <a:p>
            <a:pPr algn="l">
              <a:lnSpc>
                <a:spcPts val="1625"/>
              </a:lnSpc>
              <a:spcAft>
                <a:spcPts val="200"/>
              </a:spcAft>
              <a:defRPr sz="1300" b="0">
                <a:solidFill>
                  <a:srgbClr val="E8ECF0"/>
                </a:solidFill>
                <a:latin typeface="Microsoft YaHei"/>
              </a:defRPr>
            </a:pPr>
            <a:r>
              <a:t>≈ 充值 10 元 = 500 万字对话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1371600"/>
            <a:ext cx="3291840" cy="1645920"/>
          </a:xfrm>
          <a:prstGeom prst="rect">
            <a:avLst/>
          </a:prstGeom>
          <a:solidFill>
            <a:srgbClr val="18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120" y="1371600"/>
            <a:ext cx="3291840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17720" y="150876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250"/>
              </a:lnSpc>
              <a:spcAft>
                <a:spcPts val="200"/>
              </a:spcAft>
              <a:defRPr sz="1800" b="1">
                <a:solidFill>
                  <a:srgbClr val="EF4444"/>
                </a:solidFill>
                <a:latin typeface="Microsoft YaHei"/>
              </a:defRPr>
            </a:pPr>
            <a:r>
              <a:t>🔴 Claude Sonnet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1920240"/>
            <a:ext cx="274320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625"/>
              </a:lnSpc>
              <a:spcAft>
                <a:spcPts val="200"/>
              </a:spcAft>
              <a:defRPr sz="1300" b="0">
                <a:solidFill>
                  <a:srgbClr val="E8ECF0"/>
                </a:solidFill>
                <a:latin typeface="Microsoft YaHei"/>
              </a:defRPr>
            </a:pPr>
            <a:r>
              <a:t>输入：$3 ≈ ¥21  / 百万 tokens</a:t>
            </a:r>
          </a:p>
          <a:p>
            <a:pPr algn="l">
              <a:lnSpc>
                <a:spcPts val="1625"/>
              </a:lnSpc>
              <a:spcAft>
                <a:spcPts val="200"/>
              </a:spcAft>
              <a:defRPr sz="1300" b="0">
                <a:solidFill>
                  <a:srgbClr val="E8ECF0"/>
                </a:solidFill>
                <a:latin typeface="Microsoft YaHei"/>
              </a:defRPr>
            </a:pPr>
            <a:r>
              <a:t>输出：$15 ≈ ¥105 / 百万 tokens</a:t>
            </a:r>
          </a:p>
          <a:p>
            <a:pPr algn="l">
              <a:lnSpc>
                <a:spcPts val="1625"/>
              </a:lnSpc>
              <a:spcAft>
                <a:spcPts val="200"/>
              </a:spcAft>
              <a:defRPr sz="1300" b="0">
                <a:solidFill>
                  <a:srgbClr val="E8ECF0"/>
                </a:solidFill>
                <a:latin typeface="Microsoft YaHei"/>
              </a:defRPr>
            </a:pPr>
            <a:endParaRPr/>
          </a:p>
          <a:p>
            <a:pPr algn="l">
              <a:lnSpc>
                <a:spcPts val="1625"/>
              </a:lnSpc>
              <a:spcAft>
                <a:spcPts val="200"/>
              </a:spcAft>
              <a:defRPr sz="1300" b="0">
                <a:solidFill>
                  <a:srgbClr val="E8ECF0"/>
                </a:solidFill>
                <a:latin typeface="Microsoft YaHei"/>
              </a:defRPr>
            </a:pPr>
            <a:r>
              <a:t>≈ 价格是 DeepSeek 的 50 倍+</a:t>
            </a:r>
          </a:p>
          <a:p>
            <a:pPr algn="l">
              <a:lnSpc>
                <a:spcPts val="1625"/>
              </a:lnSpc>
              <a:spcAft>
                <a:spcPts val="200"/>
              </a:spcAft>
              <a:defRPr sz="1300" b="0">
                <a:solidFill>
                  <a:srgbClr val="E8ECF0"/>
                </a:solidFill>
                <a:latin typeface="Microsoft YaHei"/>
              </a:defRPr>
            </a:pPr>
            <a:r>
              <a:t>≈ 还需科学上网 + 国外信用卡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00400"/>
            <a:ext cx="6858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750"/>
              </a:lnSpc>
              <a:spcAft>
                <a:spcPts val="200"/>
              </a:spcAft>
              <a:defRPr sz="1400" b="1">
                <a:solidFill>
                  <a:srgbClr val="2ECC71"/>
                </a:solidFill>
                <a:latin typeface="Microsoft YaHei"/>
              </a:defRPr>
            </a:pPr>
            <a:r>
              <a:t>👉 结论：DeepSeek 成本仅为 Claude 的 2%，且中文理解能力更强！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1371600"/>
            <a:ext cx="4114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6B788A"/>
                </a:solidFill>
                <a:latin typeface="Microsoft YaHei"/>
              </a:defRPr>
            </a:pPr>
            <a:r>
              <a:t>充值流程截图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35824" y="1655064"/>
            <a:ext cx="1399032" cy="1901952"/>
          </a:xfrm>
          <a:prstGeom prst="rect">
            <a:avLst/>
          </a:prstGeom>
          <a:solidFill>
            <a:srgbClr val="18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mag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232274"/>
            <a:ext cx="1325880" cy="747532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9171432" y="1655064"/>
            <a:ext cx="1399032" cy="1901952"/>
          </a:xfrm>
          <a:prstGeom prst="rect">
            <a:avLst/>
          </a:prstGeom>
          <a:solidFill>
            <a:srgbClr val="18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-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8008" y="2238992"/>
            <a:ext cx="1325880" cy="73409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10607040" y="1655064"/>
            <a:ext cx="1399032" cy="1901952"/>
          </a:xfrm>
          <a:prstGeom prst="rect">
            <a:avLst/>
          </a:prstGeom>
          <a:solidFill>
            <a:srgbClr val="18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-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3616" y="2233884"/>
            <a:ext cx="1325880" cy="74431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1520" y="3703320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250"/>
              </a:lnSpc>
              <a:spcAft>
                <a:spcPts val="200"/>
              </a:spcAft>
              <a:defRPr sz="1800" b="1">
                <a:solidFill>
                  <a:srgbClr val="549EFF"/>
                </a:solidFill>
                <a:latin typeface="Microsoft YaHei"/>
              </a:defRPr>
            </a:pPr>
            <a:r>
              <a:t>📝 充值步骤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050792"/>
            <a:ext cx="7132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755"/>
              </a:lnSpc>
              <a:spcAft>
                <a:spcPts val="400"/>
              </a:spcAft>
              <a:defRPr sz="1300">
                <a:solidFill>
                  <a:srgbClr val="E8ECF0"/>
                </a:solidFill>
                <a:latin typeface="Microsoft YaHei"/>
              </a:defRPr>
            </a:pPr>
            <a:r>
              <a:t>▸ ① 在 DeepSeek 平台完成实名认证（按平台指引操作）</a:t>
            </a:r>
          </a:p>
          <a:p>
            <a:pPr>
              <a:lnSpc>
                <a:spcPts val="1755"/>
              </a:lnSpc>
              <a:spcAft>
                <a:spcPts val="400"/>
              </a:spcAft>
              <a:defRPr sz="1300">
                <a:solidFill>
                  <a:srgbClr val="E8ECF0"/>
                </a:solidFill>
                <a:latin typeface="Microsoft YaHei"/>
              </a:defRPr>
            </a:pPr>
            <a:r>
              <a:t>▸ ② 进入充值页面，首次建议充值 10~20 元</a:t>
            </a:r>
          </a:p>
          <a:p>
            <a:pPr>
              <a:lnSpc>
                <a:spcPts val="1755"/>
              </a:lnSpc>
              <a:spcAft>
                <a:spcPts val="400"/>
              </a:spcAft>
              <a:defRPr sz="1300">
                <a:solidFill>
                  <a:srgbClr val="E8ECF0"/>
                </a:solidFill>
                <a:latin typeface="Microsoft YaHei"/>
              </a:defRPr>
            </a:pPr>
            <a:r>
              <a:t>▸ ③ 支持微信 / 支付宝扫码支付，即时到账</a:t>
            </a:r>
          </a:p>
          <a:p>
            <a:pPr>
              <a:lnSpc>
                <a:spcPts val="1755"/>
              </a:lnSpc>
              <a:spcAft>
                <a:spcPts val="400"/>
              </a:spcAft>
              <a:defRPr sz="1300">
                <a:solidFill>
                  <a:srgbClr val="E8ECF0"/>
                </a:solidFill>
                <a:latin typeface="Microsoft YaHei"/>
              </a:defRPr>
            </a:pPr>
            <a:r>
              <a:t>▸ ④ 充值后即可无限制调用 API，按量计费，用多少扣多少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411480"/>
            <a:ext cx="54864" cy="365760"/>
          </a:xfrm>
          <a:prstGeom prst="rect">
            <a:avLst/>
          </a:prstGeom>
          <a:solidFill>
            <a:srgbClr val="F25C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31520" y="274320"/>
            <a:ext cx="384048" cy="384048"/>
          </a:xfrm>
          <a:prstGeom prst="ellipse">
            <a:avLst/>
          </a:prstGeom>
          <a:solidFill>
            <a:srgbClr val="F25C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56032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500"/>
              </a:lnSpc>
              <a:spcAft>
                <a:spcPts val="200"/>
              </a:spcAft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VS Code 集成 Claude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49808"/>
            <a:ext cx="8229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A0ACBA"/>
                </a:solidFill>
                <a:latin typeface="Microsoft YaHei"/>
              </a:defRPr>
            </a:pPr>
            <a:r>
              <a:t>在可视化编辑器中运行，告别纯命令行，效率翻倍</a:t>
            </a:r>
          </a:p>
        </p:txBody>
      </p:sp>
      <p:sp>
        <p:nvSpPr>
          <p:cNvPr id="6" name="Rectangle 5"/>
          <p:cNvSpPr/>
          <p:nvPr/>
        </p:nvSpPr>
        <p:spPr>
          <a:xfrm>
            <a:off x="6815023" y="1252728"/>
            <a:ext cx="4718304" cy="4352544"/>
          </a:xfrm>
          <a:prstGeom prst="rect">
            <a:avLst/>
          </a:prstGeom>
          <a:solidFill>
            <a:srgbClr val="18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8175" y="2249052"/>
            <a:ext cx="4572000" cy="235989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325880"/>
            <a:ext cx="58366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250"/>
              </a:lnSpc>
              <a:spcAft>
                <a:spcPts val="200"/>
              </a:spcAft>
              <a:defRPr sz="1800" b="1">
                <a:solidFill>
                  <a:srgbClr val="F79E1B"/>
                </a:solidFill>
                <a:latin typeface="Microsoft YaHei"/>
              </a:defRPr>
            </a:pPr>
            <a:r>
              <a:t>🌟 为什么选择 VS Code？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91640"/>
            <a:ext cx="58366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20"/>
              </a:lnSpc>
              <a:spcAft>
                <a:spcPts val="400"/>
              </a:spcAft>
              <a:defRPr sz="1200">
                <a:solidFill>
                  <a:srgbClr val="E8ECF0"/>
                </a:solidFill>
                <a:latin typeface="Microsoft YaHei"/>
              </a:defRPr>
            </a:pPr>
            <a:r>
              <a:t>▸ 微软出品的免费编辑器，轻量且功能强大</a:t>
            </a:r>
          </a:p>
          <a:p>
            <a:pPr>
              <a:lnSpc>
                <a:spcPts val="1620"/>
              </a:lnSpc>
              <a:spcAft>
                <a:spcPts val="400"/>
              </a:spcAft>
              <a:defRPr sz="1200">
                <a:solidFill>
                  <a:srgbClr val="E8ECF0"/>
                </a:solidFill>
                <a:latin typeface="Microsoft YaHei"/>
              </a:defRPr>
            </a:pPr>
            <a:r>
              <a:t>▸ 可视化操作界面，告别纯命令行</a:t>
            </a:r>
          </a:p>
          <a:p>
            <a:pPr>
              <a:lnSpc>
                <a:spcPts val="1620"/>
              </a:lnSpc>
              <a:spcAft>
                <a:spcPts val="400"/>
              </a:spcAft>
              <a:defRPr sz="1200">
                <a:solidFill>
                  <a:srgbClr val="E8ECF0"/>
                </a:solidFill>
                <a:latin typeface="Microsoft YaHei"/>
              </a:defRPr>
            </a:pPr>
            <a:r>
              <a:t>▸ 可直观查看代码变更、对比差异</a:t>
            </a:r>
          </a:p>
          <a:p>
            <a:pPr>
              <a:lnSpc>
                <a:spcPts val="1620"/>
              </a:lnSpc>
              <a:spcAft>
                <a:spcPts val="400"/>
              </a:spcAft>
              <a:defRPr sz="1200">
                <a:solidFill>
                  <a:srgbClr val="E8ECF0"/>
                </a:solidFill>
                <a:latin typeface="Microsoft YaHei"/>
              </a:defRPr>
            </a:pPr>
            <a:r>
              <a:t>▸ 丰富插件生态，无限扩展可能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80360"/>
            <a:ext cx="58366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250"/>
              </a:lnSpc>
              <a:spcAft>
                <a:spcPts val="200"/>
              </a:spcAft>
              <a:defRPr sz="1800" b="1">
                <a:solidFill>
                  <a:srgbClr val="549EFF"/>
                </a:solidFill>
                <a:latin typeface="Microsoft YaHei"/>
              </a:defRPr>
            </a:pPr>
            <a:r>
              <a:t>🔌 安装 Claude Code 插件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46120"/>
            <a:ext cx="58366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20"/>
              </a:lnSpc>
              <a:spcAft>
                <a:spcPts val="400"/>
              </a:spcAft>
              <a:defRPr sz="1200">
                <a:solidFill>
                  <a:srgbClr val="E8ECF0"/>
                </a:solidFill>
                <a:latin typeface="Microsoft YaHei"/>
              </a:defRPr>
            </a:pPr>
            <a:r>
              <a:t>▸ Ctrl+Shift+X → 搜索 "Claude Code"</a:t>
            </a:r>
          </a:p>
          <a:p>
            <a:pPr>
              <a:lnSpc>
                <a:spcPts val="1620"/>
              </a:lnSpc>
              <a:spcAft>
                <a:spcPts val="400"/>
              </a:spcAft>
              <a:defRPr sz="1200">
                <a:solidFill>
                  <a:srgbClr val="E8ECF0"/>
                </a:solidFill>
                <a:latin typeface="Microsoft YaHei"/>
              </a:defRPr>
            </a:pPr>
            <a:r>
              <a:t>▸ 找到 Anthropic 官方插件 → Install</a:t>
            </a:r>
          </a:p>
          <a:p>
            <a:pPr>
              <a:lnSpc>
                <a:spcPts val="1620"/>
              </a:lnSpc>
              <a:spcAft>
                <a:spcPts val="400"/>
              </a:spcAft>
              <a:defRPr sz="1200">
                <a:solidFill>
                  <a:srgbClr val="E8ECF0"/>
                </a:solidFill>
                <a:latin typeface="Microsoft YaHei"/>
              </a:defRPr>
            </a:pPr>
            <a:r>
              <a:t>▸ Ctrl+` 打开终端 → 输入 claude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26280"/>
            <a:ext cx="58366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000"/>
              </a:lnSpc>
              <a:spcAft>
                <a:spcPts val="200"/>
              </a:spcAft>
              <a:defRPr sz="1600" b="1">
                <a:solidFill>
                  <a:srgbClr val="F25C3B"/>
                </a:solidFill>
                <a:latin typeface="Microsoft YaHei"/>
              </a:defRPr>
            </a:pPr>
            <a:r>
              <a:t>⚠️ PowerShell 执行策略报错？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892040"/>
            <a:ext cx="6202375" cy="411480"/>
          </a:xfrm>
          <a:prstGeom prst="rect">
            <a:avLst/>
          </a:prstGeom>
          <a:solidFill>
            <a:srgbClr val="202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4983480"/>
            <a:ext cx="58366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30"/>
              </a:lnSpc>
              <a:defRPr sz="1100">
                <a:solidFill>
                  <a:srgbClr val="2ECC71"/>
                </a:solidFill>
                <a:latin typeface="Cascadia Code"/>
              </a:defRPr>
            </a:pPr>
            <a:r>
              <a:t>Set-ExecutionPolicy -ExecutionPolicy RemoteSigned -Scope CurrentUser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440680"/>
            <a:ext cx="58366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75"/>
              </a:lnSpc>
              <a:spcAft>
                <a:spcPts val="200"/>
              </a:spcAft>
              <a:defRPr sz="1100" b="0">
                <a:solidFill>
                  <a:srgbClr val="A0ACBA"/>
                </a:solidFill>
                <a:latin typeface="Microsoft YaHei"/>
              </a:defRPr>
            </a:pPr>
            <a:r>
              <a:t>在 PowerShell 中执行上述命令，输入 Y 确认即可</a:t>
            </a:r>
          </a:p>
          <a:p>
            <a:pPr algn="l">
              <a:lnSpc>
                <a:spcPts val="1375"/>
              </a:lnSpc>
              <a:spcAft>
                <a:spcPts val="200"/>
              </a:spcAft>
              <a:defRPr sz="1100" b="0">
                <a:solidFill>
                  <a:srgbClr val="A0ACBA"/>
                </a:solidFill>
                <a:latin typeface="Microsoft YaHei"/>
              </a:defRPr>
            </a:pPr>
            <a:r>
              <a:t>RemoteSigned：允许本地脚本运行，保留安全防护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411480"/>
            <a:ext cx="54864" cy="365760"/>
          </a:xfrm>
          <a:prstGeom prst="rect">
            <a:avLst/>
          </a:prstGeom>
          <a:solidFill>
            <a:srgbClr val="F25C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56032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500"/>
              </a:lnSpc>
              <a:spcAft>
                <a:spcPts val="200"/>
              </a:spcAft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解决 PowerShell 执行策略报错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749808"/>
            <a:ext cx="8229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A0ACBA"/>
                </a:solidFill>
                <a:latin typeface="Microsoft YaHei"/>
              </a:defRPr>
            </a:pPr>
            <a:r>
              <a:t>claude.ps1 无法运行？这是 Windows 安全机制，一行命令解决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62179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500"/>
              </a:lnSpc>
              <a:spcAft>
                <a:spcPts val="200"/>
              </a:spcAft>
              <a:defRPr sz="2000" b="1">
                <a:solidFill>
                  <a:srgbClr val="F79E1B"/>
                </a:solidFill>
                <a:latin typeface="Microsoft YaHei"/>
              </a:defRPr>
            </a:pPr>
            <a:r>
              <a:t>🔍 问题分析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55648"/>
            <a:ext cx="6217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755"/>
              </a:lnSpc>
              <a:spcAft>
                <a:spcPts val="400"/>
              </a:spcAft>
              <a:defRPr sz="1300">
                <a:solidFill>
                  <a:srgbClr val="E8ECF0"/>
                </a:solidFill>
                <a:latin typeface="Microsoft YaHei"/>
              </a:defRPr>
            </a:pPr>
            <a:r>
              <a:t>▸ Windows PowerShell 默认执行策略为 Restricted</a:t>
            </a:r>
          </a:p>
          <a:p>
            <a:pPr>
              <a:lnSpc>
                <a:spcPts val="1755"/>
              </a:lnSpc>
              <a:spcAft>
                <a:spcPts val="400"/>
              </a:spcAft>
              <a:defRPr sz="1300">
                <a:solidFill>
                  <a:srgbClr val="E8ECF0"/>
                </a:solidFill>
                <a:latin typeface="Microsoft YaHei"/>
              </a:defRPr>
            </a:pPr>
            <a:r>
              <a:t>▸ 该策略禁止所有脚本运行，包括 claude.ps1</a:t>
            </a:r>
          </a:p>
          <a:p>
            <a:pPr>
              <a:lnSpc>
                <a:spcPts val="1755"/>
              </a:lnSpc>
              <a:spcAft>
                <a:spcPts val="400"/>
              </a:spcAft>
              <a:defRPr sz="1300">
                <a:solidFill>
                  <a:srgbClr val="E8ECF0"/>
                </a:solidFill>
                <a:latin typeface="Microsoft YaHei"/>
              </a:defRPr>
            </a:pPr>
            <a:r>
              <a:t>▸ 这是 Windows 安全功能，防止恶意脚本执行</a:t>
            </a:r>
          </a:p>
          <a:p>
            <a:pPr>
              <a:lnSpc>
                <a:spcPts val="1755"/>
              </a:lnSpc>
              <a:spcAft>
                <a:spcPts val="400"/>
              </a:spcAft>
              <a:defRPr sz="1300">
                <a:solidFill>
                  <a:srgbClr val="E8ECF0"/>
                </a:solidFill>
                <a:latin typeface="Microsoft YaHei"/>
              </a:defRPr>
            </a:pPr>
            <a:r>
              <a:t>▸ 修改仅影响当前用户，不影响系统安全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63240"/>
            <a:ext cx="62179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500"/>
              </a:lnSpc>
              <a:spcAft>
                <a:spcPts val="200"/>
              </a:spcAft>
              <a:defRPr sz="2000" b="1">
                <a:solidFill>
                  <a:srgbClr val="2ECC71"/>
                </a:solidFill>
                <a:latin typeface="Microsoft YaHei"/>
              </a:defRPr>
            </a:pPr>
            <a:r>
              <a:t>✅ 解决方案（推荐）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47288"/>
            <a:ext cx="6217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20"/>
              </a:lnSpc>
              <a:spcAft>
                <a:spcPts val="400"/>
              </a:spcAft>
              <a:defRPr sz="1200">
                <a:solidFill>
                  <a:srgbClr val="E8ECF0"/>
                </a:solidFill>
                <a:latin typeface="Microsoft YaHei"/>
              </a:defRPr>
            </a:pPr>
            <a:r>
              <a:t>▸ 以普通身份打开 PowerShell（无需管理员权限）</a:t>
            </a:r>
          </a:p>
          <a:p>
            <a:pPr>
              <a:lnSpc>
                <a:spcPts val="1620"/>
              </a:lnSpc>
              <a:spcAft>
                <a:spcPts val="400"/>
              </a:spcAft>
              <a:defRPr sz="1200">
                <a:solidFill>
                  <a:srgbClr val="E8ECF0"/>
                </a:solidFill>
                <a:latin typeface="Microsoft YaHei"/>
              </a:defRPr>
            </a:pPr>
            <a:r>
              <a:t>▸ 执行以下命令（仅修改当前用户策略）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069080"/>
            <a:ext cx="6217920" cy="457200"/>
          </a:xfrm>
          <a:prstGeom prst="rect">
            <a:avLst/>
          </a:prstGeom>
          <a:solidFill>
            <a:srgbClr val="202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416052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90"/>
              </a:lnSpc>
              <a:defRPr sz="1300">
                <a:solidFill>
                  <a:srgbClr val="2ECC71"/>
                </a:solidFill>
                <a:latin typeface="Cascadia Code"/>
              </a:defRPr>
            </a:pPr>
            <a:r>
              <a:t>Set-ExecutionPolicy -ExecutionPolicy RemoteSigned -Scope CurrentUser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62179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A0ACBA"/>
                </a:solidFill>
                <a:latin typeface="Microsoft YaHei"/>
              </a:defRPr>
            </a:pPr>
            <a:r>
              <a:t>RemoteSigned 策略说明：</a:t>
            </a:r>
          </a:p>
          <a:p>
            <a:pPr algn="l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A0ACBA"/>
                </a:solidFill>
                <a:latin typeface="Microsoft YaHei"/>
              </a:defRPr>
            </a:pPr>
            <a:r>
              <a:t>   ✅ 允许运行本地创建的脚本</a:t>
            </a:r>
          </a:p>
          <a:p>
            <a:pPr algn="l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A0ACBA"/>
                </a:solidFill>
                <a:latin typeface="Microsoft YaHei"/>
              </a:defRPr>
            </a:pPr>
            <a:r>
              <a:t>   ⚠️ 从网络下载的脚本仍需有效签名</a:t>
            </a:r>
          </a:p>
          <a:p>
            <a:pPr algn="l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A0ACBA"/>
                </a:solidFill>
                <a:latin typeface="Microsoft YaHei"/>
              </a:defRPr>
            </a:pPr>
            <a:r>
              <a:t>   🔒 既解决问题，又保留基本安全防护</a:t>
            </a:r>
          </a:p>
          <a:p>
            <a:pPr algn="l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A0ACBA"/>
                </a:solidFill>
                <a:latin typeface="Microsoft YaHei"/>
              </a:defRPr>
            </a:pPr>
            <a:endParaRPr/>
          </a:p>
          <a:p>
            <a:pPr algn="l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A0ACBA"/>
                </a:solidFill>
                <a:latin typeface="Microsoft YaHei"/>
              </a:defRPr>
            </a:pPr>
            <a:r>
              <a:t>系统询问 "是否要更改执行策略?" → 输入 Y 回车确认</a:t>
            </a:r>
          </a:p>
          <a:p>
            <a:pPr algn="l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A0ACBA"/>
                </a:solidFill>
                <a:latin typeface="Microsoft YaHei"/>
              </a:defRPr>
            </a:pPr>
            <a:r>
              <a:t>关闭当前终端 → 重新打开 → 再次运行 claude 即可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50608" y="1252728"/>
            <a:ext cx="4718304" cy="4718304"/>
          </a:xfrm>
          <a:prstGeom prst="rect">
            <a:avLst/>
          </a:prstGeom>
          <a:solidFill>
            <a:srgbClr val="18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3040380"/>
            <a:ext cx="4572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411480"/>
            <a:ext cx="54864" cy="365760"/>
          </a:xfrm>
          <a:prstGeom prst="rect">
            <a:avLst/>
          </a:prstGeom>
          <a:solidFill>
            <a:srgbClr val="F25C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56032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3500"/>
              </a:lnSpc>
              <a:spcAft>
                <a:spcPts val="200"/>
              </a:spcAft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常见问题排查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749808"/>
            <a:ext cx="8229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500"/>
              </a:lnSpc>
              <a:spcAft>
                <a:spcPts val="200"/>
              </a:spcAft>
              <a:defRPr sz="1200" b="0">
                <a:solidFill>
                  <a:srgbClr val="A0ACBA"/>
                </a:solidFill>
                <a:latin typeface="Microsoft YaHei"/>
              </a:defRPr>
            </a:pPr>
            <a:r>
              <a:t>安装过程中遇到的典型问题及解决方案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9467" y="1417320"/>
            <a:ext cx="3429000" cy="1554480"/>
          </a:xfrm>
          <a:prstGeom prst="rect">
            <a:avLst/>
          </a:prstGeom>
          <a:solidFill>
            <a:srgbClr val="18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69467" y="1417320"/>
            <a:ext cx="3429000" cy="36576"/>
          </a:xfrm>
          <a:prstGeom prst="rect">
            <a:avLst/>
          </a:prstGeom>
          <a:solidFill>
            <a:srgbClr val="54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6627" y="1527048"/>
            <a:ext cx="31089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75"/>
              </a:lnSpc>
              <a:spcAft>
                <a:spcPts val="200"/>
              </a:spcAft>
              <a:defRPr sz="1500" b="1">
                <a:solidFill>
                  <a:srgbClr val="F79E1B"/>
                </a:solidFill>
                <a:latin typeface="Microsoft YaHei"/>
              </a:defRPr>
            </a:pPr>
            <a:r>
              <a:t>Q1: npm install 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6627" y="1856232"/>
            <a:ext cx="3108960" cy="10515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75"/>
              </a:lnSpc>
              <a:spcAft>
                <a:spcPts val="200"/>
              </a:spcAft>
              <a:defRPr sz="1100" b="0">
                <a:solidFill>
                  <a:srgbClr val="A0ACBA"/>
                </a:solidFill>
                <a:latin typeface="Microsoft YaHei"/>
              </a:defRPr>
            </a:pPr>
            <a:r>
              <a:t>→ 切换国内镜像：npm config set registry</a:t>
            </a:r>
          </a:p>
          <a:p>
            <a:pPr algn="l">
              <a:lnSpc>
                <a:spcPts val="1375"/>
              </a:lnSpc>
              <a:spcAft>
                <a:spcPts val="200"/>
              </a:spcAft>
              <a:defRPr sz="1100" b="0">
                <a:solidFill>
                  <a:srgbClr val="A0ACBA"/>
                </a:solidFill>
                <a:latin typeface="Microsoft YaHei"/>
              </a:defRPr>
            </a:pPr>
            <a:r>
              <a:t>  https://registry.npmmirror.com</a:t>
            </a:r>
          </a:p>
          <a:p>
            <a:pPr algn="l">
              <a:lnSpc>
                <a:spcPts val="1375"/>
              </a:lnSpc>
              <a:spcAft>
                <a:spcPts val="200"/>
              </a:spcAft>
              <a:defRPr sz="1100" b="0">
                <a:solidFill>
                  <a:srgbClr val="A0ACBA"/>
                </a:solidFill>
                <a:latin typeface="Microsoft YaHei"/>
              </a:defRPr>
            </a:pPr>
            <a:r>
              <a:t>→ 或用管理员身份运行 PowerShell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1347" y="1417320"/>
            <a:ext cx="3429000" cy="1554480"/>
          </a:xfrm>
          <a:prstGeom prst="rect">
            <a:avLst/>
          </a:prstGeom>
          <a:solidFill>
            <a:srgbClr val="18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1347" y="1417320"/>
            <a:ext cx="3429000" cy="36576"/>
          </a:xfrm>
          <a:prstGeom prst="rect">
            <a:avLst/>
          </a:prstGeom>
          <a:solidFill>
            <a:srgbClr val="54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18507" y="1527048"/>
            <a:ext cx="31089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75"/>
              </a:lnSpc>
              <a:spcAft>
                <a:spcPts val="200"/>
              </a:spcAft>
              <a:defRPr sz="1500" b="1">
                <a:solidFill>
                  <a:srgbClr val="F79E1B"/>
                </a:solidFill>
                <a:latin typeface="Microsoft YaHei"/>
              </a:defRPr>
            </a:pPr>
            <a:r>
              <a:t>Q2: 提示找不到 claude 命令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8507" y="1856232"/>
            <a:ext cx="3108960" cy="10515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75"/>
              </a:lnSpc>
              <a:spcAft>
                <a:spcPts val="200"/>
              </a:spcAft>
              <a:defRPr sz="1100" b="0">
                <a:solidFill>
                  <a:srgbClr val="A0ACBA"/>
                </a:solidFill>
                <a:latin typeface="Microsoft YaHei"/>
              </a:defRPr>
            </a:pPr>
            <a:r>
              <a:t>→ 关闭并重新打开 cmd 窗口</a:t>
            </a:r>
          </a:p>
          <a:p>
            <a:pPr algn="l">
              <a:lnSpc>
                <a:spcPts val="1375"/>
              </a:lnSpc>
              <a:spcAft>
                <a:spcPts val="200"/>
              </a:spcAft>
              <a:defRPr sz="1100" b="0">
                <a:solidFill>
                  <a:srgbClr val="A0ACBA"/>
                </a:solidFill>
                <a:latin typeface="Microsoft YaHei"/>
              </a:defRPr>
            </a:pPr>
            <a:r>
              <a:t>→ 确认 npm 全局安装成功</a:t>
            </a:r>
          </a:p>
          <a:p>
            <a:pPr algn="l">
              <a:lnSpc>
                <a:spcPts val="1375"/>
              </a:lnSpc>
              <a:spcAft>
                <a:spcPts val="200"/>
              </a:spcAft>
              <a:defRPr sz="1100" b="0">
                <a:solidFill>
                  <a:srgbClr val="A0ACBA"/>
                </a:solidFill>
                <a:latin typeface="Microsoft YaHei"/>
              </a:defRPr>
            </a:pPr>
            <a:r>
              <a:t>→ 检查 npm 全局路径是否在 PATH 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93227" y="1417320"/>
            <a:ext cx="3429000" cy="1554480"/>
          </a:xfrm>
          <a:prstGeom prst="rect">
            <a:avLst/>
          </a:prstGeom>
          <a:solidFill>
            <a:srgbClr val="18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993227" y="1417320"/>
            <a:ext cx="3429000" cy="36576"/>
          </a:xfrm>
          <a:prstGeom prst="rect">
            <a:avLst/>
          </a:prstGeom>
          <a:solidFill>
            <a:srgbClr val="54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30387" y="1527048"/>
            <a:ext cx="31089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75"/>
              </a:lnSpc>
              <a:spcAft>
                <a:spcPts val="200"/>
              </a:spcAft>
              <a:defRPr sz="1500" b="1">
                <a:solidFill>
                  <a:srgbClr val="F79E1B"/>
                </a:solidFill>
                <a:latin typeface="Microsoft YaHei"/>
              </a:defRPr>
            </a:pPr>
            <a:r>
              <a:t>Q3: 提示找不到 Git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0387" y="1856232"/>
            <a:ext cx="3108960" cy="10515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75"/>
              </a:lnSpc>
              <a:spcAft>
                <a:spcPts val="200"/>
              </a:spcAft>
              <a:defRPr sz="1100" b="0">
                <a:solidFill>
                  <a:srgbClr val="A0ACBA"/>
                </a:solidFill>
                <a:latin typeface="Microsoft YaHei"/>
              </a:defRPr>
            </a:pPr>
            <a:r>
              <a:t>→ 确认已安装：git --version</a:t>
            </a:r>
          </a:p>
          <a:p>
            <a:pPr algn="l">
              <a:lnSpc>
                <a:spcPts val="1375"/>
              </a:lnSpc>
              <a:spcAft>
                <a:spcPts val="200"/>
              </a:spcAft>
              <a:defRPr sz="1100" b="0">
                <a:solidFill>
                  <a:srgbClr val="A0ACBA"/>
                </a:solidFill>
                <a:latin typeface="Microsoft YaHei"/>
              </a:defRPr>
            </a:pPr>
            <a:r>
              <a:t>→ 重装 Git 时勾选「Add Git to PATH」</a:t>
            </a:r>
          </a:p>
          <a:p>
            <a:pPr algn="l">
              <a:lnSpc>
                <a:spcPts val="1375"/>
              </a:lnSpc>
              <a:spcAft>
                <a:spcPts val="200"/>
              </a:spcAft>
              <a:defRPr sz="1100" b="0">
                <a:solidFill>
                  <a:srgbClr val="A0ACBA"/>
                </a:solidFill>
                <a:latin typeface="Microsoft YaHei"/>
              </a:defRPr>
            </a:pPr>
            <a:r>
              <a:t>→ 或手动添加 Git 到系统环境变量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9467" y="3108960"/>
            <a:ext cx="3429000" cy="1554480"/>
          </a:xfrm>
          <a:prstGeom prst="rect">
            <a:avLst/>
          </a:prstGeom>
          <a:solidFill>
            <a:srgbClr val="18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69467" y="3108960"/>
            <a:ext cx="3429000" cy="36576"/>
          </a:xfrm>
          <a:prstGeom prst="rect">
            <a:avLst/>
          </a:prstGeom>
          <a:solidFill>
            <a:srgbClr val="54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6627" y="3218688"/>
            <a:ext cx="31089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75"/>
              </a:lnSpc>
              <a:spcAft>
                <a:spcPts val="200"/>
              </a:spcAft>
              <a:defRPr sz="1500" b="1">
                <a:solidFill>
                  <a:srgbClr val="F79E1B"/>
                </a:solidFill>
                <a:latin typeface="Microsoft YaHei"/>
              </a:defRPr>
            </a:pPr>
            <a:r>
              <a:t>Q4: CC-Switch 配置后仍提示登录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6627" y="3547872"/>
            <a:ext cx="3108960" cy="10515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75"/>
              </a:lnSpc>
              <a:spcAft>
                <a:spcPts val="200"/>
              </a:spcAft>
              <a:defRPr sz="1100" b="0">
                <a:solidFill>
                  <a:srgbClr val="A0ACBA"/>
                </a:solidFill>
                <a:latin typeface="Microsoft YaHei"/>
              </a:defRPr>
            </a:pPr>
            <a:r>
              <a:t>→ 检查 API Key 是否有多余空格</a:t>
            </a:r>
          </a:p>
          <a:p>
            <a:pPr algn="l">
              <a:lnSpc>
                <a:spcPts val="1375"/>
              </a:lnSpc>
              <a:spcAft>
                <a:spcPts val="200"/>
              </a:spcAft>
              <a:defRPr sz="1100" b="0">
                <a:solidFill>
                  <a:srgbClr val="A0ACBA"/>
                </a:solidFill>
                <a:latin typeface="Microsoft YaHei"/>
              </a:defRPr>
            </a:pPr>
            <a:r>
              <a:t>→ 确认 DeepSeek 已实名认证并充值</a:t>
            </a:r>
          </a:p>
          <a:p>
            <a:pPr algn="l">
              <a:lnSpc>
                <a:spcPts val="1375"/>
              </a:lnSpc>
              <a:spcAft>
                <a:spcPts val="200"/>
              </a:spcAft>
              <a:defRPr sz="1100" b="0">
                <a:solidFill>
                  <a:srgbClr val="A0ACBA"/>
                </a:solidFill>
                <a:latin typeface="Microsoft YaHei"/>
              </a:defRPr>
            </a:pPr>
            <a:r>
              <a:t>→ 重启 CC-Switch 和 cmd 再试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1347" y="3108960"/>
            <a:ext cx="3429000" cy="1554480"/>
          </a:xfrm>
          <a:prstGeom prst="rect">
            <a:avLst/>
          </a:prstGeom>
          <a:solidFill>
            <a:srgbClr val="18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381347" y="3108960"/>
            <a:ext cx="3429000" cy="36576"/>
          </a:xfrm>
          <a:prstGeom prst="rect">
            <a:avLst/>
          </a:prstGeom>
          <a:solidFill>
            <a:srgbClr val="54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18507" y="3218688"/>
            <a:ext cx="31089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75"/>
              </a:lnSpc>
              <a:spcAft>
                <a:spcPts val="200"/>
              </a:spcAft>
              <a:defRPr sz="1500" b="1">
                <a:solidFill>
                  <a:srgbClr val="F79E1B"/>
                </a:solidFill>
                <a:latin typeface="Microsoft YaHei"/>
              </a:defRPr>
            </a:pPr>
            <a:r>
              <a:t>Q5: DeepSeek API 返回错误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18507" y="3547872"/>
            <a:ext cx="3108960" cy="10515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75"/>
              </a:lnSpc>
              <a:spcAft>
                <a:spcPts val="200"/>
              </a:spcAft>
              <a:defRPr sz="1100" b="0">
                <a:solidFill>
                  <a:srgbClr val="A0ACBA"/>
                </a:solidFill>
                <a:latin typeface="Microsoft YaHei"/>
              </a:defRPr>
            </a:pPr>
            <a:r>
              <a:t>→ 检查账户余额是否充足</a:t>
            </a:r>
          </a:p>
          <a:p>
            <a:pPr algn="l">
              <a:lnSpc>
                <a:spcPts val="1375"/>
              </a:lnSpc>
              <a:spcAft>
                <a:spcPts val="200"/>
              </a:spcAft>
              <a:defRPr sz="1100" b="0">
                <a:solidFill>
                  <a:srgbClr val="A0ACBA"/>
                </a:solidFill>
                <a:latin typeface="Microsoft YaHei"/>
              </a:defRPr>
            </a:pPr>
            <a:r>
              <a:t>→ 确认 API Key 未被删除/过期</a:t>
            </a:r>
          </a:p>
          <a:p>
            <a:pPr algn="l">
              <a:lnSpc>
                <a:spcPts val="1375"/>
              </a:lnSpc>
              <a:spcAft>
                <a:spcPts val="200"/>
              </a:spcAft>
              <a:defRPr sz="1100" b="0">
                <a:solidFill>
                  <a:srgbClr val="A0ACBA"/>
                </a:solidFill>
                <a:latin typeface="Microsoft YaHei"/>
              </a:defRPr>
            </a:pPr>
            <a:r>
              <a:t>→ 实名认证是否已审核通过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93227" y="3108960"/>
            <a:ext cx="3429000" cy="1554480"/>
          </a:xfrm>
          <a:prstGeom prst="rect">
            <a:avLst/>
          </a:prstGeom>
          <a:solidFill>
            <a:srgbClr val="18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93227" y="3108960"/>
            <a:ext cx="3429000" cy="36576"/>
          </a:xfrm>
          <a:prstGeom prst="rect">
            <a:avLst/>
          </a:prstGeom>
          <a:solidFill>
            <a:srgbClr val="54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130387" y="3218688"/>
            <a:ext cx="31089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75"/>
              </a:lnSpc>
              <a:spcAft>
                <a:spcPts val="200"/>
              </a:spcAft>
              <a:defRPr sz="1500" b="1">
                <a:solidFill>
                  <a:srgbClr val="F79E1B"/>
                </a:solidFill>
                <a:latin typeface="Microsoft YaHei"/>
              </a:defRPr>
            </a:pPr>
            <a:r>
              <a:t>Q6: VS Code 终端无法运行 claude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0387" y="3547872"/>
            <a:ext cx="3108960" cy="10515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375"/>
              </a:lnSpc>
              <a:spcAft>
                <a:spcPts val="200"/>
              </a:spcAft>
              <a:defRPr sz="1100" b="0">
                <a:solidFill>
                  <a:srgbClr val="A0ACBA"/>
                </a:solidFill>
                <a:latin typeface="Microsoft YaHei"/>
              </a:defRPr>
            </a:pPr>
            <a:r>
              <a:t>→ 按前一页修改 PowerShell 执行策略</a:t>
            </a:r>
          </a:p>
          <a:p>
            <a:pPr algn="l">
              <a:lnSpc>
                <a:spcPts val="1375"/>
              </a:lnSpc>
              <a:spcAft>
                <a:spcPts val="200"/>
              </a:spcAft>
              <a:defRPr sz="1100" b="0">
                <a:solidFill>
                  <a:srgbClr val="A0ACBA"/>
                </a:solidFill>
                <a:latin typeface="Microsoft YaHei"/>
              </a:defRPr>
            </a:pPr>
            <a:r>
              <a:t>→ 关闭 VS Code 重新打开</a:t>
            </a:r>
          </a:p>
          <a:p>
            <a:pPr algn="l">
              <a:lnSpc>
                <a:spcPts val="1375"/>
              </a:lnSpc>
              <a:spcAft>
                <a:spcPts val="200"/>
              </a:spcAft>
              <a:defRPr sz="1100" b="0">
                <a:solidFill>
                  <a:srgbClr val="A0ACBA"/>
                </a:solidFill>
                <a:latin typeface="Microsoft YaHei"/>
              </a:defRPr>
            </a:pPr>
            <a:r>
              <a:t>→ 确认外部 cmd 中可正常运行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806440"/>
            <a:ext cx="10728655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75"/>
              </a:lnSpc>
              <a:spcAft>
                <a:spcPts val="200"/>
              </a:spcAft>
              <a:defRPr sz="1100" b="0">
                <a:solidFill>
                  <a:srgbClr val="6B788A"/>
                </a:solidFill>
                <a:latin typeface="Microsoft YaHei"/>
              </a:defRPr>
            </a:pPr>
            <a:r>
              <a:t>💡 更多帮助请查看完整教程：Claude_Code_安装教程.md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645920"/>
            <a:ext cx="12191695" cy="36576"/>
          </a:xfrm>
          <a:prstGeom prst="rect">
            <a:avLst/>
          </a:prstGeom>
          <a:solidFill>
            <a:srgbClr val="F25C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502920"/>
            <a:ext cx="94183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5250"/>
              </a:lnSpc>
              <a:spcAft>
                <a:spcPts val="200"/>
              </a:spcAft>
              <a:defRPr sz="4200" b="1">
                <a:solidFill>
                  <a:srgbClr val="FFFFFF"/>
                </a:solidFill>
                <a:latin typeface="Microsoft YaHei"/>
              </a:defRPr>
            </a:pPr>
            <a:r>
              <a:t>🎯 安装完成！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43000"/>
            <a:ext cx="94183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875"/>
              </a:lnSpc>
              <a:spcAft>
                <a:spcPts val="200"/>
              </a:spcAft>
              <a:defRPr sz="1500" b="0">
                <a:solidFill>
                  <a:srgbClr val="A0ACBA"/>
                </a:solidFill>
                <a:latin typeface="Microsoft YaHei"/>
              </a:defRPr>
            </a:pPr>
            <a:r>
              <a:t>在终端输入 claude 即可开启 AI 编程之旅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447" y="2194560"/>
            <a:ext cx="1691640" cy="2743200"/>
          </a:xfrm>
          <a:prstGeom prst="rect">
            <a:avLst/>
          </a:prstGeom>
          <a:solidFill>
            <a:srgbClr val="18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9447" y="2194560"/>
            <a:ext cx="1691640" cy="36576"/>
          </a:xfrm>
          <a:prstGeom prst="rect">
            <a:avLst/>
          </a:prstGeom>
          <a:solidFill>
            <a:srgbClr val="F25C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00887" y="2423160"/>
            <a:ext cx="1508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2000"/>
              </a:lnSpc>
              <a:spcAft>
                <a:spcPts val="200"/>
              </a:spcAft>
              <a:defRPr sz="1600" b="1">
                <a:solidFill>
                  <a:srgbClr val="F25C3B"/>
                </a:solidFill>
                <a:latin typeface="Microsoft YaHei"/>
              </a:defRPr>
            </a:pPr>
            <a:r>
              <a:t>Node.js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887" y="3108960"/>
            <a:ext cx="1508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75"/>
              </a:lnSpc>
              <a:spcAft>
                <a:spcPts val="200"/>
              </a:spcAft>
              <a:defRPr sz="1100" b="0">
                <a:solidFill>
                  <a:srgbClr val="A0ACBA"/>
                </a:solidFill>
                <a:latin typeface="Microsoft YaHei"/>
              </a:defRPr>
            </a:pPr>
            <a:r>
              <a:t>运行环境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887" y="3794760"/>
            <a:ext cx="1508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125"/>
              </a:lnSpc>
              <a:spcAft>
                <a:spcPts val="200"/>
              </a:spcAft>
              <a:defRPr sz="900" b="0">
                <a:solidFill>
                  <a:srgbClr val="6B788A"/>
                </a:solidFill>
                <a:latin typeface="Microsoft YaHei"/>
              </a:defRPr>
            </a:pPr>
            <a:r>
              <a:t>nodejs.org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65679" y="2194560"/>
            <a:ext cx="1691640" cy="2743200"/>
          </a:xfrm>
          <a:prstGeom prst="rect">
            <a:avLst/>
          </a:prstGeom>
          <a:solidFill>
            <a:srgbClr val="18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465679" y="2194560"/>
            <a:ext cx="1691640" cy="36576"/>
          </a:xfrm>
          <a:prstGeom prst="rect">
            <a:avLst/>
          </a:prstGeom>
          <a:solidFill>
            <a:srgbClr val="F79E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57119" y="2423160"/>
            <a:ext cx="1508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2000"/>
              </a:lnSpc>
              <a:spcAft>
                <a:spcPts val="200"/>
              </a:spcAft>
              <a:defRPr sz="1600" b="1">
                <a:solidFill>
                  <a:srgbClr val="F79E1B"/>
                </a:solidFill>
                <a:latin typeface="Microsoft YaHei"/>
              </a:defRPr>
            </a:pPr>
            <a:r>
              <a:t>Git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57119" y="3108960"/>
            <a:ext cx="1508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75"/>
              </a:lnSpc>
              <a:spcAft>
                <a:spcPts val="200"/>
              </a:spcAft>
              <a:defRPr sz="1100" b="0">
                <a:solidFill>
                  <a:srgbClr val="A0ACBA"/>
                </a:solidFill>
                <a:latin typeface="Microsoft YaHei"/>
              </a:defRPr>
            </a:pPr>
            <a:r>
              <a:t>版本控制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57119" y="3794760"/>
            <a:ext cx="1508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125"/>
              </a:lnSpc>
              <a:spcAft>
                <a:spcPts val="200"/>
              </a:spcAft>
              <a:defRPr sz="900" b="0">
                <a:solidFill>
                  <a:srgbClr val="6B788A"/>
                </a:solidFill>
                <a:latin typeface="Microsoft YaHei"/>
              </a:defRPr>
            </a:pPr>
            <a:r>
              <a:t>git-scm.com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1911" y="2194560"/>
            <a:ext cx="1691640" cy="2743200"/>
          </a:xfrm>
          <a:prstGeom prst="rect">
            <a:avLst/>
          </a:prstGeom>
          <a:solidFill>
            <a:srgbClr val="18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21911" y="2194560"/>
            <a:ext cx="1691640" cy="36576"/>
          </a:xfrm>
          <a:prstGeom prst="rect">
            <a:avLst/>
          </a:prstGeom>
          <a:solidFill>
            <a:srgbClr val="54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13351" y="2423160"/>
            <a:ext cx="1508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2000"/>
              </a:lnSpc>
              <a:spcAft>
                <a:spcPts val="200"/>
              </a:spcAft>
              <a:defRPr sz="1600" b="1">
                <a:solidFill>
                  <a:srgbClr val="549EFF"/>
                </a:solidFill>
                <a:latin typeface="Microsoft YaHei"/>
              </a:defRPr>
            </a:pPr>
            <a:r>
              <a:t>Claude 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3351" y="3108960"/>
            <a:ext cx="1508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75"/>
              </a:lnSpc>
              <a:spcAft>
                <a:spcPts val="200"/>
              </a:spcAft>
              <a:defRPr sz="1100" b="0">
                <a:solidFill>
                  <a:srgbClr val="A0ACBA"/>
                </a:solidFill>
                <a:latin typeface="Microsoft YaHei"/>
              </a:defRPr>
            </a:pPr>
            <a:r>
              <a:t>AI 编程 CLI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3351" y="3794760"/>
            <a:ext cx="1508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125"/>
              </a:lnSpc>
              <a:spcAft>
                <a:spcPts val="200"/>
              </a:spcAft>
              <a:defRPr sz="900" b="0">
                <a:solidFill>
                  <a:srgbClr val="6B788A"/>
                </a:solidFill>
                <a:latin typeface="Microsoft YaHei"/>
              </a:defRPr>
            </a:pPr>
            <a:r>
              <a:t>npm install -g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8143" y="2194560"/>
            <a:ext cx="1691640" cy="2743200"/>
          </a:xfrm>
          <a:prstGeom prst="rect">
            <a:avLst/>
          </a:prstGeom>
          <a:solidFill>
            <a:srgbClr val="18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178143" y="2194560"/>
            <a:ext cx="1691640" cy="3657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69583" y="2423160"/>
            <a:ext cx="1508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2000"/>
              </a:lnSpc>
              <a:spcAft>
                <a:spcPts val="200"/>
              </a:spcAft>
              <a:defRPr sz="1600" b="1">
                <a:solidFill>
                  <a:srgbClr val="2ECC71"/>
                </a:solidFill>
                <a:latin typeface="Microsoft YaHei"/>
              </a:defRPr>
            </a:pPr>
            <a:r>
              <a:t>CC-Switch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9583" y="3108960"/>
            <a:ext cx="1508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75"/>
              </a:lnSpc>
              <a:spcAft>
                <a:spcPts val="200"/>
              </a:spcAft>
              <a:defRPr sz="1100" b="0">
                <a:solidFill>
                  <a:srgbClr val="A0ACBA"/>
                </a:solidFill>
                <a:latin typeface="Microsoft YaHei"/>
              </a:defRPr>
            </a:pPr>
            <a:r>
              <a:t>模型切换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9583" y="3794760"/>
            <a:ext cx="1508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125"/>
              </a:lnSpc>
              <a:spcAft>
                <a:spcPts val="200"/>
              </a:spcAft>
              <a:defRPr sz="900" b="0">
                <a:solidFill>
                  <a:srgbClr val="6B788A"/>
                </a:solidFill>
                <a:latin typeface="Microsoft YaHei"/>
              </a:defRPr>
            </a:pPr>
            <a:r>
              <a:t>GitHub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34375" y="2194560"/>
            <a:ext cx="1691640" cy="2743200"/>
          </a:xfrm>
          <a:prstGeom prst="rect">
            <a:avLst/>
          </a:prstGeom>
          <a:solidFill>
            <a:srgbClr val="18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034375" y="2194560"/>
            <a:ext cx="1691640" cy="36576"/>
          </a:xfrm>
          <a:prstGeom prst="rect">
            <a:avLst/>
          </a:prstGeom>
          <a:solidFill>
            <a:srgbClr val="4D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125815" y="2423160"/>
            <a:ext cx="1508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2000"/>
              </a:lnSpc>
              <a:spcAft>
                <a:spcPts val="200"/>
              </a:spcAft>
              <a:defRPr sz="1600" b="1">
                <a:solidFill>
                  <a:srgbClr val="4D6BFF"/>
                </a:solidFill>
                <a:latin typeface="Microsoft YaHei"/>
              </a:defRPr>
            </a:pPr>
            <a:r>
              <a:t>DeepSeek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5815" y="3108960"/>
            <a:ext cx="1508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75"/>
              </a:lnSpc>
              <a:spcAft>
                <a:spcPts val="200"/>
              </a:spcAft>
              <a:defRPr sz="1100" b="0">
                <a:solidFill>
                  <a:srgbClr val="A0ACBA"/>
                </a:solidFill>
                <a:latin typeface="Microsoft YaHei"/>
              </a:defRPr>
            </a:pPr>
            <a:r>
              <a:t>国产大模型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5815" y="3794760"/>
            <a:ext cx="1508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125"/>
              </a:lnSpc>
              <a:spcAft>
                <a:spcPts val="200"/>
              </a:spcAft>
              <a:defRPr sz="900" b="0">
                <a:solidFill>
                  <a:srgbClr val="6B788A"/>
                </a:solidFill>
                <a:latin typeface="Microsoft YaHei"/>
              </a:defRPr>
            </a:pPr>
            <a:r>
              <a:t>platform.deepseek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890607" y="2194560"/>
            <a:ext cx="1691640" cy="2743200"/>
          </a:xfrm>
          <a:prstGeom prst="rect">
            <a:avLst/>
          </a:prstGeom>
          <a:solidFill>
            <a:srgbClr val="18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890607" y="2194560"/>
            <a:ext cx="1691640" cy="36576"/>
          </a:xfrm>
          <a:prstGeom prst="rect">
            <a:avLst/>
          </a:prstGeom>
          <a:solidFill>
            <a:srgbClr val="F25C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982047" y="2423160"/>
            <a:ext cx="1508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2000"/>
              </a:lnSpc>
              <a:spcAft>
                <a:spcPts val="200"/>
              </a:spcAft>
              <a:defRPr sz="1600" b="1">
                <a:solidFill>
                  <a:srgbClr val="F25C3B"/>
                </a:solidFill>
                <a:latin typeface="Microsoft YaHei"/>
              </a:defRPr>
            </a:pPr>
            <a:r>
              <a:t>VS Code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82047" y="3108960"/>
            <a:ext cx="1508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375"/>
              </a:lnSpc>
              <a:spcAft>
                <a:spcPts val="200"/>
              </a:spcAft>
              <a:defRPr sz="1100" b="0">
                <a:solidFill>
                  <a:srgbClr val="A0ACBA"/>
                </a:solidFill>
                <a:latin typeface="Microsoft YaHei"/>
              </a:defRPr>
            </a:pPr>
            <a:r>
              <a:t>可视化编辑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82047" y="3794760"/>
            <a:ext cx="15087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1125"/>
              </a:lnSpc>
              <a:spcAft>
                <a:spcPts val="200"/>
              </a:spcAft>
              <a:defRPr sz="900" b="0">
                <a:solidFill>
                  <a:srgbClr val="6B788A"/>
                </a:solidFill>
                <a:latin typeface="Microsoft YaHei"/>
              </a:defRPr>
            </a:pPr>
            <a:r>
              <a:t>插件市场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5349240"/>
            <a:ext cx="941832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ts val="2125"/>
              </a:lnSpc>
              <a:spcAft>
                <a:spcPts val="200"/>
              </a:spcAft>
              <a:defRPr sz="1700" b="0">
                <a:solidFill>
                  <a:srgbClr val="E8ECF0"/>
                </a:solidFill>
                <a:latin typeface="Microsoft YaHei"/>
              </a:defRPr>
            </a:pPr>
            <a:r>
              <a:t>Claude Code + DeepSeek = 高效 · 低成本 · 无限制</a:t>
            </a:r>
          </a:p>
          <a:p>
            <a:pPr algn="ctr">
              <a:lnSpc>
                <a:spcPts val="2125"/>
              </a:lnSpc>
              <a:spcAft>
                <a:spcPts val="200"/>
              </a:spcAft>
              <a:defRPr sz="1700" b="0">
                <a:solidFill>
                  <a:srgbClr val="E8ECF0"/>
                </a:solidFill>
                <a:latin typeface="Microsoft YaHei"/>
              </a:defRPr>
            </a:pPr>
            <a:r>
              <a:t>无需科学上网 · 无需国外账号 · 成本仅为 Claude 官方的 2%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1072</Words>
  <Application>Microsoft Office PowerPoint</Application>
  <PresentationFormat>宽屏</PresentationFormat>
  <Paragraphs>221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Administrator</cp:lastModifiedBy>
  <cp:revision>2</cp:revision>
  <dcterms:created xsi:type="dcterms:W3CDTF">2013-01-27T09:14:16Z</dcterms:created>
  <dcterms:modified xsi:type="dcterms:W3CDTF">2026-06-13T14:47:30Z</dcterms:modified>
  <cp:category/>
</cp:coreProperties>
</file>